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57" r:id="rId3"/>
    <p:sldId id="258" r:id="rId4"/>
    <p:sldId id="269" r:id="rId5"/>
    <p:sldId id="260" r:id="rId6"/>
    <p:sldId id="270" r:id="rId7"/>
    <p:sldId id="271" r:id="rId8"/>
    <p:sldId id="262" r:id="rId9"/>
    <p:sldId id="272" r:id="rId10"/>
    <p:sldId id="263" r:id="rId11"/>
    <p:sldId id="275" r:id="rId12"/>
    <p:sldId id="274" r:id="rId13"/>
    <p:sldId id="264" r:id="rId14"/>
    <p:sldId id="265" r:id="rId15"/>
    <p:sldId id="266" r:id="rId16"/>
    <p:sldId id="267" r:id="rId17"/>
    <p:sldId id="276" r:id="rId18"/>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3" autoAdjust="0"/>
    <p:restoredTop sz="82892" autoAdjust="0"/>
  </p:normalViewPr>
  <p:slideViewPr>
    <p:cSldViewPr snapToGrid="0" snapToObjects="1">
      <p:cViewPr varScale="1">
        <p:scale>
          <a:sx n="63" d="100"/>
          <a:sy n="63" d="100"/>
        </p:scale>
        <p:origin x="1788" y="42"/>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411798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Hello and welcome to my presentation on our analysis of data supplied by Turtle Games</a:t>
            </a:r>
            <a:r>
              <a:rPr dirty="0"/>
              <a:t>. I’ll walk through what we set out to learn, the tools used, the headline insights about customer loyalty, and a short set of business recommendations. </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I’ll start with the business goal and questions, describe the data and tool</a:t>
            </a:r>
            <a:r>
              <a:rPr lang="en-GB" dirty="0"/>
              <a:t>s leveraged</a:t>
            </a:r>
            <a:r>
              <a:rPr dirty="0"/>
              <a:t>, </a:t>
            </a:r>
            <a:r>
              <a:rPr dirty="0" err="1"/>
              <a:t>summari</a:t>
            </a:r>
            <a:r>
              <a:rPr lang="en-GB" dirty="0"/>
              <a:t>se </a:t>
            </a:r>
            <a:r>
              <a:rPr dirty="0"/>
              <a:t> the key patterns we found, compare two predictive approaches, share segmentation and sentiment results, then wrap with action</a:t>
            </a:r>
            <a:r>
              <a:rPr lang="en-GB" dirty="0"/>
              <a:t>able insights</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Our goal was practical: explain and predict loyalty points, find </a:t>
            </a:r>
            <a:r>
              <a:rPr lang="en-GB" dirty="0"/>
              <a:t>customer groups to target a</a:t>
            </a:r>
            <a:r>
              <a:rPr dirty="0" err="1"/>
              <a:t>nd</a:t>
            </a:r>
            <a:r>
              <a:rPr dirty="0"/>
              <a:t> how, and turn findings into actions that can raise customer value.</a:t>
            </a:r>
            <a:r>
              <a:rPr lang="en-GB" dirty="0"/>
              <a:t> This will include building predictive models to look at relationships between variables, looking at potential customer segmentation and leveraging  NPL to analyse customer reviews and determine sentiment.</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We worked from a cleaned dataset with 2,000 rows across nine data points per customer using Python and R</a:t>
            </a:r>
          </a:p>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dirty="0"/>
              <a:t>We started with some basic demographic analysis to get to know the customers.  Females out number males by 1 : 0.8. Most customers only write the one review, although curiously the next largest group at 25 wrote 7 reviews.</a:t>
            </a:r>
          </a:p>
          <a:p>
            <a:r>
              <a:rPr lang="en-GB" dirty="0"/>
              <a:t>In terms of education, customers come from a variety of backgrounds, but graduates dominate./</a:t>
            </a:r>
          </a:p>
          <a:p>
            <a:r>
              <a:rPr lang="en-GB" dirty="0"/>
              <a:t>Income wise, there is a wide spread, there are peaks and troths across the range</a:t>
            </a:r>
          </a:p>
        </p:txBody>
      </p:sp>
    </p:spTree>
    <p:extLst>
      <p:ext uri="{BB962C8B-B14F-4D97-AF65-F5344CB8AC3E}">
        <p14:creationId xmlns:p14="http://schemas.microsoft.com/office/powerpoint/2010/main" val="207351484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Three quick patterns stood out. First, loyalty points are right‑skewed with a notable high‑value tail (about 13% outliers). </a:t>
            </a:r>
            <a:r>
              <a:rPr lang="en-GB" dirty="0"/>
              <a:t>So the bulk of customers have less than 2000 loyalty points. </a:t>
            </a:r>
            <a:r>
              <a:rPr dirty="0"/>
              <a:t>Second, spending score </a:t>
            </a:r>
            <a:r>
              <a:rPr lang="en-GB" dirty="0"/>
              <a:t>and income are </a:t>
            </a:r>
            <a:r>
              <a:rPr dirty="0"/>
              <a:t>the strongest </a:t>
            </a:r>
            <a:r>
              <a:rPr lang="en-GB" dirty="0"/>
              <a:t>correlation</a:t>
            </a:r>
            <a:r>
              <a:rPr dirty="0"/>
              <a:t> with loyalty points,  age is positive but smaller. </a:t>
            </a:r>
            <a:r>
              <a:rPr lang="en-GB" dirty="0"/>
              <a:t> Other factors (including external) played a lesser role.</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dirty="0"/>
              <a:t>Looking at linear regression (both simple and multiple) we can see if there are any potential relationships between the variables. Spending score and income do indeed have an impact on loyalty points, to an extent. After a spending score or income of 60, things are less linear, we see the spread of data points, suggesting that we may be able to predict loyalty points up to this point. After this it’s more difficult and linear models won’t be so useful. On the </a:t>
            </a:r>
            <a:r>
              <a:rPr lang="en-GB" dirty="0" err="1"/>
              <a:t>righ</a:t>
            </a:r>
            <a:r>
              <a:rPr lang="en-GB" dirty="0"/>
              <a:t> graph we can see the predicted loyalty by observed ;</a:t>
            </a:r>
            <a:r>
              <a:rPr lang="en-GB" dirty="0" err="1"/>
              <a:t>oyalty</a:t>
            </a:r>
            <a:r>
              <a:rPr lang="en-GB" dirty="0"/>
              <a:t>, meaning we over estimate at lower  scores, and under estimate at higher scores.</a:t>
            </a:r>
          </a:p>
          <a:p>
            <a:r>
              <a:rPr lang="en-GB" dirty="0"/>
              <a:t>Age and product are random across the range.</a:t>
            </a:r>
          </a:p>
          <a:p>
            <a:r>
              <a:rPr lang="en-GB" dirty="0"/>
              <a:t>Spline regression allows us to take into consideration a less linear approach, but the results were very similar to linear, not offering any real benefits.</a:t>
            </a:r>
          </a:p>
          <a:p>
            <a:endParaRPr lang="en-GB" dirty="0"/>
          </a:p>
        </p:txBody>
      </p:sp>
    </p:spTree>
    <p:extLst>
      <p:ext uri="{BB962C8B-B14F-4D97-AF65-F5344CB8AC3E}">
        <p14:creationId xmlns:p14="http://schemas.microsoft.com/office/powerpoint/2010/main" val="5910001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dirty="0"/>
              <a:t>Using decision trees made it easier to compare models, unpruned, pruned and random forests.  Random Forest gave  the best test accuracy, so it’s strongest for prediction, but  less interpretable. Pruned trees are easier to explain but lose accuracy.  Linear models are simple and explain drivers clearly (spending score and income dominate), but the simple linear fit is weak , explaining 45% </a:t>
            </a:r>
            <a:r>
              <a:rPr lang="en-GB" sz="1200" b="0" i="0" kern="1200" dirty="0">
                <a:solidFill>
                  <a:schemeClr val="tx1"/>
                </a:solidFill>
                <a:effectLst/>
                <a:latin typeface="+mn-lt"/>
                <a:ea typeface="+mn-ea"/>
                <a:cs typeface="+mn-cs"/>
              </a:rPr>
              <a:t> of the variation in loyalty points) can be explained by spending score</a:t>
            </a:r>
            <a:r>
              <a:rPr lang="en-GB" dirty="0"/>
              <a:t>. Multiple linear improves a lot , taking that to a decent 84%  and is the best choice when we need explainability for stakeholders. That does leave 16% unaccounted for, but this could be caused by factors outside of our control.</a:t>
            </a:r>
          </a:p>
          <a:p>
            <a:endParaRPr lang="en-GB" dirty="0"/>
          </a:p>
          <a:p>
            <a:r>
              <a:rPr lang="en-GB" dirty="0"/>
              <a:t>Business takeaway: For operational forecasts, use Random Forest. For decision rules and storytelling with non-technical stakeholders, use the pruned tree (depth≈5) or the multiple linear model. Across models, spending score and income are the main levers for loyalty points; age has a smaller effect.</a:t>
            </a:r>
          </a:p>
          <a:p>
            <a:endParaRPr lang="en-GB" dirty="0"/>
          </a:p>
        </p:txBody>
      </p:sp>
    </p:spTree>
    <p:extLst>
      <p:ext uri="{BB962C8B-B14F-4D97-AF65-F5344CB8AC3E}">
        <p14:creationId xmlns:p14="http://schemas.microsoft.com/office/powerpoint/2010/main" val="276397537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Next we looked at customer grouping or segmentation. Can the customers be split into easily definable groups. As it turns out, yes.</a:t>
            </a:r>
          </a:p>
          <a:p>
            <a:r>
              <a:rPr dirty="0"/>
              <a:t>We found five workable segments. For example, high income / low spend is ripe for </a:t>
            </a:r>
            <a:r>
              <a:rPr lang="en-GB" dirty="0" err="1"/>
              <a:t>enguagement</a:t>
            </a:r>
            <a:r>
              <a:rPr dirty="0"/>
              <a:t>, while high income / high spend is ideal for VIP treatment. The mid‑income/mid‑spend group is the largest.</a:t>
            </a:r>
            <a:endParaRPr lang="en-GB" dirty="0"/>
          </a:p>
          <a:p>
            <a:r>
              <a:rPr lang="en-GB" dirty="0"/>
              <a:t>But this segmentation, only looked at spending score and income, we saw earlier age also had a potential part to play.</a:t>
            </a:r>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dirty="0"/>
              <a:t>Lets add  age into the mix. This time we split the customers into six distinct groups. Now we have segmented by age, it gives us a better understanding of customer circumstances. For example younger customers or grand parents with limited budgets, to the affluent high spenders.</a:t>
            </a:r>
          </a:p>
        </p:txBody>
      </p:sp>
    </p:spTree>
    <p:extLst>
      <p:ext uri="{BB962C8B-B14F-4D97-AF65-F5344CB8AC3E}">
        <p14:creationId xmlns:p14="http://schemas.microsoft.com/office/powerpoint/2010/main" val="31395400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Our final analysis looked at customer sentiment, through reviews. Sometime reviews speak louder than a simple star rating and allows us to really dig into their true feelings.</a:t>
            </a:r>
          </a:p>
          <a:p>
            <a:r>
              <a:rPr lang="en-GB" dirty="0"/>
              <a:t>Most common themes</a:t>
            </a:r>
          </a:p>
          <a:p>
            <a:r>
              <a:rPr lang="en-GB" dirty="0"/>
              <a:t>Most common words</a:t>
            </a:r>
          </a:p>
          <a:p>
            <a:r>
              <a:rPr dirty="0"/>
              <a:t>The brand promise resonates—fun, quality, easy for families. We should ensure operations deliver consistently t</a:t>
            </a:r>
            <a:r>
              <a:rPr lang="en-GB" dirty="0"/>
              <a:t>(this seems to be the source of negativity) t</a:t>
            </a:r>
            <a:r>
              <a:rPr dirty="0"/>
              <a:t>o protect that equity.</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Here is a very brief look at the most frequently used words across review and summary</a:t>
            </a:r>
          </a:p>
          <a:p>
            <a:endParaRPr lang="en-GB" dirty="0"/>
          </a:p>
        </p:txBody>
      </p:sp>
    </p:spTree>
    <p:extLst>
      <p:ext uri="{BB962C8B-B14F-4D97-AF65-F5344CB8AC3E}">
        <p14:creationId xmlns:p14="http://schemas.microsoft.com/office/powerpoint/2010/main" val="397571355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GB" dirty="0"/>
              <a:t>Review sentiment. We can see that on the whole customers are happy with Turtle games. Sentiment is generally positive. It would be advisable to look into the negativity though</a:t>
            </a:r>
          </a:p>
        </p:txBody>
      </p:sp>
    </p:spTree>
    <p:extLst>
      <p:ext uri="{BB962C8B-B14F-4D97-AF65-F5344CB8AC3E}">
        <p14:creationId xmlns:p14="http://schemas.microsoft.com/office/powerpoint/2010/main" val="296140592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dirty="0"/>
              <a:t>In short: we can explain and predict loyalty reasonably well; we know who the premium customers are; and we know where operations can improve the experience.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actions grow both the everyday core and the premium tail. We start simple—Linear model—and scale sophistication as we monitor outcomes.</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dirty="0"/>
              <a:t>WE do need to point out the limitations of this analysis and potential risks moving forward.</a:t>
            </a:r>
          </a:p>
          <a:p>
            <a:pPr marL="0" marR="0" lvl="0" indent="0" algn="l" defTabSz="914400" rtl="0" eaLnBrk="1" fontAlgn="auto" latinLnBrk="0" hangingPunct="1">
              <a:lnSpc>
                <a:spcPct val="100000"/>
              </a:lnSpc>
              <a:spcBef>
                <a:spcPts val="0"/>
              </a:spcBef>
              <a:spcAft>
                <a:spcPts val="0"/>
              </a:spcAft>
              <a:buClrTx/>
              <a:buSzTx/>
              <a:buFontTx/>
              <a:buNone/>
              <a:tabLst/>
              <a:defRPr/>
            </a:pPr>
            <a:r>
              <a:rPr lang="en-GB" dirty="0"/>
              <a:t>The dataset was limited, but should have given a good overview. T</a:t>
            </a:r>
            <a:r>
              <a:rPr lang="en-US" sz="1200" kern="1200" dirty="0">
                <a:solidFill>
                  <a:schemeClr val="tx1"/>
                </a:solidFill>
                <a:effectLst/>
                <a:latin typeface="+mn-lt"/>
                <a:ea typeface="+mn-ea"/>
                <a:cs typeface="+mn-cs"/>
              </a:rPr>
              <a:t>here are behaviors that are not taken into consideration e.g., tenure, promo exposure, seasonality etc.</a:t>
            </a: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Maybe look at how products relate to reviews, positive or negative. It would be useful to know the product numbers represent so products could be grouped into categories. </a:t>
            </a:r>
            <a:endParaRPr lang="en-GB" sz="1200" kern="1200" dirty="0">
              <a:solidFill>
                <a:schemeClr val="tx1"/>
              </a:solidFill>
              <a:effectLst/>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solidFill>
                  <a:schemeClr val="tx1"/>
                </a:solidFill>
                <a:effectLst/>
                <a:latin typeface="+mn-lt"/>
                <a:ea typeface="+mn-ea"/>
                <a:cs typeface="+mn-cs"/>
              </a:rPr>
              <a:t>Further analysis could be done to look at reviews by individual product, gender, age etc.</a:t>
            </a:r>
            <a:endParaRPr lang="en-GB" sz="1200" kern="1200" dirty="0">
              <a:solidFill>
                <a:schemeClr val="tx1"/>
              </a:solidFill>
              <a:effectLst/>
              <a:latin typeface="+mn-lt"/>
              <a:ea typeface="+mn-ea"/>
              <a:cs typeface="+mn-cs"/>
            </a:endParaRPr>
          </a:p>
          <a:p>
            <a:endParaRPr lang="en-GB" dirty="0"/>
          </a:p>
          <a:p>
            <a:r>
              <a:rPr dirty="0"/>
              <a:t>We’ll handle limitations by enriching data and re‑training </a:t>
            </a:r>
            <a:r>
              <a:rPr lang="en-GB" dirty="0"/>
              <a:t>the models</a:t>
            </a:r>
            <a:r>
              <a:rPr dirty="0"/>
              <a:t>, and by testing offers to learn what really moves the needle.</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is a light‑weight rollout: deploy the simple model, run targeted offers, measure impact, and iterate with better data.</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7/25/2026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7/25/2026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7/25/2026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7/25/2026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7/25/2026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7/25/2026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6.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6.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jpeg"/></Relationships>
</file>

<file path=ppt/slides/_rels/slide7.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1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217420"/>
            <a:ext cx="7772400" cy="1383030"/>
          </a:xfrm>
        </p:spPr>
        <p:txBody>
          <a:bodyPr/>
          <a:lstStyle/>
          <a:p>
            <a:pPr>
              <a:defRPr sz="4000">
                <a:solidFill>
                  <a:srgbClr val="006666"/>
                </a:solidFill>
              </a:defRPr>
            </a:pPr>
            <a:r>
              <a:rPr dirty="0">
                <a:solidFill>
                  <a:schemeClr val="tx2">
                    <a:lumMod val="50000"/>
                  </a:schemeClr>
                </a:solidFill>
              </a:rPr>
              <a:t> </a:t>
            </a:r>
            <a:r>
              <a:rPr dirty="0">
                <a:solidFill>
                  <a:srgbClr val="0070C0"/>
                </a:solidFill>
              </a:rPr>
              <a:t>Turtle Games — Customer Loyalty Analytics</a:t>
            </a:r>
          </a:p>
        </p:txBody>
      </p:sp>
      <p:sp>
        <p:nvSpPr>
          <p:cNvPr id="3" name="Subtitle 2"/>
          <p:cNvSpPr>
            <a:spLocks noGrp="1"/>
          </p:cNvSpPr>
          <p:nvPr>
            <p:ph type="subTitle" idx="1"/>
          </p:nvPr>
        </p:nvSpPr>
        <p:spPr>
          <a:xfrm>
            <a:off x="533400" y="3756660"/>
            <a:ext cx="8107680" cy="2636520"/>
          </a:xfrm>
        </p:spPr>
        <p:txBody>
          <a:bodyPr>
            <a:normAutofit fontScale="40000" lnSpcReduction="20000"/>
          </a:bodyPr>
          <a:lstStyle/>
          <a:p>
            <a:endParaRPr lang="en-GB" dirty="0"/>
          </a:p>
          <a:p>
            <a:r>
              <a:rPr lang="en-US" dirty="0"/>
              <a:t> </a:t>
            </a:r>
            <a:endParaRPr lang="en-GB" dirty="0"/>
          </a:p>
          <a:p>
            <a:r>
              <a:rPr lang="en-US" sz="9600" b="1" dirty="0"/>
              <a:t> </a:t>
            </a:r>
            <a:r>
              <a:rPr lang="en-US" sz="11200" b="1" dirty="0"/>
              <a:t>Prepared for: Turtle Games</a:t>
            </a:r>
            <a:endParaRPr lang="en-GB" sz="11200" b="1" dirty="0"/>
          </a:p>
          <a:p>
            <a:r>
              <a:rPr lang="en-US" sz="11200" b="1" dirty="0"/>
              <a:t>Prepared by: ANDREW WILLACY</a:t>
            </a:r>
            <a:endParaRPr lang="en-GB" sz="11200" b="1" dirty="0"/>
          </a:p>
          <a:p>
            <a:r>
              <a:rPr lang="en-US" sz="11200" b="1" dirty="0"/>
              <a:t>Date: 6</a:t>
            </a:r>
            <a:r>
              <a:rPr lang="en-US" sz="11200" b="1" baseline="30000" dirty="0"/>
              <a:t>th</a:t>
            </a:r>
            <a:r>
              <a:rPr lang="en-US" sz="11200" b="1" dirty="0"/>
              <a:t> October 2025</a:t>
            </a:r>
            <a:endParaRPr lang="en-GB" sz="11200" b="1" dirty="0"/>
          </a:p>
          <a:p>
            <a:pPr>
              <a:defRPr sz="1800">
                <a:solidFill>
                  <a:srgbClr val="323232"/>
                </a:solidFill>
              </a:defRPr>
            </a:pPr>
            <a:endParaRPr dirty="0"/>
          </a:p>
        </p:txBody>
      </p:sp>
      <p:pic>
        <p:nvPicPr>
          <p:cNvPr id="6" name="Picture 5" descr="A turtle playing a board game&#10;&#10;AI-generated content may be incorrect.">
            <a:extLst>
              <a:ext uri="{FF2B5EF4-FFF2-40B4-BE49-F238E27FC236}">
                <a16:creationId xmlns:a16="http://schemas.microsoft.com/office/drawing/2014/main" id="{F59A3844-BB63-7D34-E965-3698F82E876C}"/>
              </a:ext>
            </a:extLst>
          </p:cNvPr>
          <p:cNvPicPr>
            <a:picLocks noChangeAspect="1"/>
          </p:cNvPicPr>
          <p:nvPr/>
        </p:nvPicPr>
        <p:blipFill>
          <a:blip r:embed="rId3"/>
          <a:stretch>
            <a:fillRect/>
          </a:stretch>
        </p:blipFill>
        <p:spPr>
          <a:xfrm>
            <a:off x="3718560" y="365760"/>
            <a:ext cx="2103120" cy="1787843"/>
          </a:xfrm>
          <a:prstGeom prst="rect">
            <a:avLst/>
          </a:prstGeom>
        </p:spPr>
      </p:pic>
    </p:spTree>
  </p:cSld>
  <p:clrMapOvr>
    <a:masterClrMapping/>
  </p:clrMapOvr>
  <mc:AlternateContent xmlns:mc="http://schemas.openxmlformats.org/markup-compatibility/2006" xmlns:p14="http://schemas.microsoft.com/office/powerpoint/2010/main">
    <mc:Choice Requires="p14">
      <p:transition spd="slow" p14:dur="2000" advTm="17873"/>
    </mc:Choice>
    <mc:Fallback xmlns="">
      <p:transition spd="slow" advTm="17873"/>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defRPr sz="2800">
                <a:solidFill>
                  <a:srgbClr val="006666"/>
                </a:solidFill>
              </a:defRPr>
            </a:pPr>
            <a:r>
              <a:rPr lang="en-GB" sz="3600" dirty="0">
                <a:solidFill>
                  <a:srgbClr val="0070C0"/>
                </a:solidFill>
              </a:rPr>
              <a:t>A</a:t>
            </a:r>
            <a:r>
              <a:rPr sz="3600" dirty="0" err="1">
                <a:solidFill>
                  <a:srgbClr val="0070C0"/>
                </a:solidFill>
              </a:rPr>
              <a:t>genda</a:t>
            </a:r>
            <a:endParaRPr sz="3600" dirty="0">
              <a:solidFill>
                <a:srgbClr val="0070C0"/>
              </a:solidFill>
            </a:endParaRPr>
          </a:p>
        </p:txBody>
      </p:sp>
      <p:sp>
        <p:nvSpPr>
          <p:cNvPr id="3" name="Content Placeholder 2"/>
          <p:cNvSpPr>
            <a:spLocks noGrp="1"/>
          </p:cNvSpPr>
          <p:nvPr>
            <p:ph idx="1"/>
          </p:nvPr>
        </p:nvSpPr>
        <p:spPr/>
        <p:txBody>
          <a:bodyPr>
            <a:normAutofit/>
          </a:bodyPr>
          <a:lstStyle/>
          <a:p>
            <a:pPr>
              <a:defRPr sz="1800">
                <a:solidFill>
                  <a:srgbClr val="323232"/>
                </a:solidFill>
              </a:defRPr>
            </a:pPr>
            <a:r>
              <a:rPr sz="2400" dirty="0"/>
              <a:t>Objective &amp; business questions</a:t>
            </a:r>
          </a:p>
          <a:p>
            <a:pPr>
              <a:defRPr sz="1800">
                <a:solidFill>
                  <a:srgbClr val="323232"/>
                </a:solidFill>
              </a:defRPr>
            </a:pPr>
            <a:r>
              <a:rPr sz="2400" dirty="0"/>
              <a:t>Data &amp; tools leveraged</a:t>
            </a:r>
          </a:p>
          <a:p>
            <a:pPr>
              <a:defRPr sz="1800">
                <a:solidFill>
                  <a:srgbClr val="323232"/>
                </a:solidFill>
              </a:defRPr>
            </a:pPr>
            <a:r>
              <a:rPr sz="2400" dirty="0"/>
              <a:t>What we found (high-level)</a:t>
            </a:r>
          </a:p>
          <a:p>
            <a:pPr>
              <a:defRPr sz="1800">
                <a:solidFill>
                  <a:srgbClr val="323232"/>
                </a:solidFill>
              </a:defRPr>
            </a:pPr>
            <a:r>
              <a:rPr sz="2400" dirty="0"/>
              <a:t>How we modelled loyalty (simple vs flexible)</a:t>
            </a:r>
          </a:p>
          <a:p>
            <a:pPr>
              <a:defRPr sz="1800">
                <a:solidFill>
                  <a:srgbClr val="323232"/>
                </a:solidFill>
              </a:defRPr>
            </a:pPr>
            <a:r>
              <a:rPr sz="2400" dirty="0"/>
              <a:t>Segments &amp; customer sentiment</a:t>
            </a:r>
          </a:p>
          <a:p>
            <a:pPr>
              <a:defRPr sz="1800">
                <a:solidFill>
                  <a:srgbClr val="323232"/>
                </a:solidFill>
              </a:defRPr>
            </a:pPr>
            <a:r>
              <a:rPr sz="2400" dirty="0"/>
              <a:t>Recommendations &amp; next steps</a:t>
            </a:r>
          </a:p>
        </p:txBody>
      </p:sp>
    </p:spTree>
  </p:cSld>
  <p:clrMapOvr>
    <a:masterClrMapping/>
  </p:clrMapOvr>
  <mc:AlternateContent xmlns:mc="http://schemas.openxmlformats.org/markup-compatibility/2006" xmlns:p14="http://schemas.microsoft.com/office/powerpoint/2010/main">
    <mc:Choice Requires="p14">
      <p:transition spd="slow" p14:dur="2000" advTm="20120"/>
    </mc:Choice>
    <mc:Fallback xmlns="">
      <p:transition spd="slow" advTm="20120"/>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defRPr sz="2800">
                <a:solidFill>
                  <a:srgbClr val="006666"/>
                </a:solidFill>
              </a:defRPr>
            </a:pPr>
            <a:r>
              <a:rPr sz="3600" dirty="0">
                <a:solidFill>
                  <a:srgbClr val="0070C0"/>
                </a:solidFill>
              </a:rPr>
              <a:t>What we set</a:t>
            </a:r>
            <a:r>
              <a:rPr lang="en-GB" sz="3600" dirty="0">
                <a:solidFill>
                  <a:srgbClr val="0070C0"/>
                </a:solidFill>
              </a:rPr>
              <a:t> out to </a:t>
            </a:r>
            <a:r>
              <a:rPr sz="3600" dirty="0">
                <a:solidFill>
                  <a:srgbClr val="0070C0"/>
                </a:solidFill>
              </a:rPr>
              <a:t>achieve</a:t>
            </a:r>
          </a:p>
        </p:txBody>
      </p:sp>
      <p:sp>
        <p:nvSpPr>
          <p:cNvPr id="3" name="Content Placeholder 2"/>
          <p:cNvSpPr>
            <a:spLocks noGrp="1"/>
          </p:cNvSpPr>
          <p:nvPr>
            <p:ph idx="1"/>
          </p:nvPr>
        </p:nvSpPr>
        <p:spPr/>
        <p:txBody>
          <a:bodyPr>
            <a:normAutofit/>
          </a:bodyPr>
          <a:lstStyle/>
          <a:p>
            <a:pPr marL="0" indent="0">
              <a:buNone/>
              <a:defRPr sz="1600" b="1">
                <a:solidFill>
                  <a:srgbClr val="323232"/>
                </a:solidFill>
              </a:defRPr>
            </a:pPr>
            <a:r>
              <a:rPr lang="en-GB" sz="2400" dirty="0"/>
              <a:t>The Questions:</a:t>
            </a:r>
            <a:endParaRPr sz="2400" dirty="0"/>
          </a:p>
          <a:p>
            <a:pPr>
              <a:defRPr sz="1800">
                <a:solidFill>
                  <a:srgbClr val="323232"/>
                </a:solidFill>
              </a:defRPr>
            </a:pPr>
            <a:r>
              <a:rPr lang="en-GB" sz="2400" dirty="0"/>
              <a:t>How do customers engage &amp; accumulate loyalty points</a:t>
            </a:r>
            <a:endParaRPr sz="2400" dirty="0"/>
          </a:p>
          <a:p>
            <a:pPr>
              <a:defRPr sz="1800">
                <a:solidFill>
                  <a:srgbClr val="323232"/>
                </a:solidFill>
              </a:defRPr>
            </a:pPr>
            <a:r>
              <a:rPr lang="en-GB" sz="2400" dirty="0"/>
              <a:t>How can text data be used to inform marketing campaigns</a:t>
            </a:r>
            <a:endParaRPr sz="2400" dirty="0"/>
          </a:p>
          <a:p>
            <a:pPr>
              <a:defRPr sz="1800">
                <a:solidFill>
                  <a:srgbClr val="323232"/>
                </a:solidFill>
              </a:defRPr>
            </a:pPr>
            <a:r>
              <a:rPr sz="2400" dirty="0"/>
              <a:t>Predict loyalty points from simple drivers for day‑to‑day decisions.</a:t>
            </a:r>
          </a:p>
          <a:p>
            <a:pPr>
              <a:defRPr sz="1800">
                <a:solidFill>
                  <a:srgbClr val="323232"/>
                </a:solidFill>
              </a:defRPr>
            </a:pPr>
            <a:r>
              <a:rPr sz="2400" dirty="0"/>
              <a:t>Identify segments and messages to grow value, not just measure it.</a:t>
            </a:r>
          </a:p>
        </p:txBody>
      </p:sp>
    </p:spTree>
  </p:cSld>
  <p:clrMapOvr>
    <a:masterClrMapping/>
  </p:clrMapOvr>
  <mc:AlternateContent xmlns:mc="http://schemas.openxmlformats.org/markup-compatibility/2006" xmlns:p14="http://schemas.microsoft.com/office/powerpoint/2010/main">
    <mc:Choice Requires="p14">
      <p:transition spd="slow" p14:dur="2000" advTm="5337"/>
    </mc:Choice>
    <mc:Fallback xmlns="">
      <p:transition spd="slow" advTm="5337"/>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5DC8A-4A55-7F0E-A7C1-CBFA5BC7EB8A}"/>
              </a:ext>
            </a:extLst>
          </p:cNvPr>
          <p:cNvSpPr>
            <a:spLocks noGrp="1"/>
          </p:cNvSpPr>
          <p:nvPr>
            <p:ph type="title"/>
          </p:nvPr>
        </p:nvSpPr>
        <p:spPr>
          <a:xfrm>
            <a:off x="457200" y="274638"/>
            <a:ext cx="6550351" cy="767949"/>
          </a:xfrm>
        </p:spPr>
        <p:txBody>
          <a:bodyPr>
            <a:normAutofit/>
          </a:bodyPr>
          <a:lstStyle/>
          <a:p>
            <a:pPr algn="l"/>
            <a:r>
              <a:rPr lang="en-GB" sz="3600" dirty="0">
                <a:solidFill>
                  <a:srgbClr val="0070C0"/>
                </a:solidFill>
              </a:rPr>
              <a:t>Getting to know the customers</a:t>
            </a:r>
          </a:p>
        </p:txBody>
      </p:sp>
      <p:pic>
        <p:nvPicPr>
          <p:cNvPr id="5" name="Content Placeholder 4" descr="A blue and brown squares with white text&#10;&#10;AI-generated content may be incorrect.">
            <a:extLst>
              <a:ext uri="{FF2B5EF4-FFF2-40B4-BE49-F238E27FC236}">
                <a16:creationId xmlns:a16="http://schemas.microsoft.com/office/drawing/2014/main" id="{E29D5984-78E9-14ED-42B1-A71AC514E605}"/>
              </a:ext>
            </a:extLst>
          </p:cNvPr>
          <p:cNvPicPr>
            <a:picLocks noGrp="1" noChangeAspect="1"/>
          </p:cNvPicPr>
          <p:nvPr>
            <p:ph idx="1"/>
          </p:nvPr>
        </p:nvPicPr>
        <p:blipFill>
          <a:blip r:embed="rId3"/>
          <a:stretch>
            <a:fillRect/>
          </a:stretch>
        </p:blipFill>
        <p:spPr>
          <a:xfrm>
            <a:off x="555476" y="1042588"/>
            <a:ext cx="3947509" cy="2471704"/>
          </a:xfrm>
        </p:spPr>
      </p:pic>
      <p:pic>
        <p:nvPicPr>
          <p:cNvPr id="7" name="Picture 6" descr="A bar graph with numbers and symbols&#10;&#10;AI-generated content may be incorrect.">
            <a:extLst>
              <a:ext uri="{FF2B5EF4-FFF2-40B4-BE49-F238E27FC236}">
                <a16:creationId xmlns:a16="http://schemas.microsoft.com/office/drawing/2014/main" id="{7D4C4732-18D7-D961-3557-EA54DAF5CFE3}"/>
              </a:ext>
            </a:extLst>
          </p:cNvPr>
          <p:cNvPicPr>
            <a:picLocks noChangeAspect="1"/>
          </p:cNvPicPr>
          <p:nvPr/>
        </p:nvPicPr>
        <p:blipFill>
          <a:blip r:embed="rId4"/>
          <a:stretch>
            <a:fillRect/>
          </a:stretch>
        </p:blipFill>
        <p:spPr>
          <a:xfrm>
            <a:off x="4502985" y="1094171"/>
            <a:ext cx="4410279" cy="2420121"/>
          </a:xfrm>
          <a:prstGeom prst="rect">
            <a:avLst/>
          </a:prstGeom>
        </p:spPr>
      </p:pic>
      <p:pic>
        <p:nvPicPr>
          <p:cNvPr id="9" name="Picture 8" descr="A graph of a number of customers&#10;&#10;AI-generated content may be incorrect.">
            <a:extLst>
              <a:ext uri="{FF2B5EF4-FFF2-40B4-BE49-F238E27FC236}">
                <a16:creationId xmlns:a16="http://schemas.microsoft.com/office/drawing/2014/main" id="{79C20034-6847-0D58-8456-CF99836A16DB}"/>
              </a:ext>
            </a:extLst>
          </p:cNvPr>
          <p:cNvPicPr>
            <a:picLocks noChangeAspect="1"/>
          </p:cNvPicPr>
          <p:nvPr/>
        </p:nvPicPr>
        <p:blipFill>
          <a:blip r:embed="rId5"/>
          <a:stretch>
            <a:fillRect/>
          </a:stretch>
        </p:blipFill>
        <p:spPr>
          <a:xfrm>
            <a:off x="457201" y="3690322"/>
            <a:ext cx="3886708" cy="2813027"/>
          </a:xfrm>
          <a:prstGeom prst="rect">
            <a:avLst/>
          </a:prstGeom>
        </p:spPr>
      </p:pic>
      <p:pic>
        <p:nvPicPr>
          <p:cNvPr id="11" name="Picture 10">
            <a:extLst>
              <a:ext uri="{FF2B5EF4-FFF2-40B4-BE49-F238E27FC236}">
                <a16:creationId xmlns:a16="http://schemas.microsoft.com/office/drawing/2014/main" id="{ED6A6222-F866-1E21-6336-FC1BE6814D46}"/>
              </a:ext>
            </a:extLst>
          </p:cNvPr>
          <p:cNvPicPr>
            <a:picLocks noChangeAspect="1"/>
          </p:cNvPicPr>
          <p:nvPr/>
        </p:nvPicPr>
        <p:blipFill>
          <a:blip r:embed="rId6"/>
          <a:stretch>
            <a:fillRect/>
          </a:stretch>
        </p:blipFill>
        <p:spPr>
          <a:xfrm>
            <a:off x="4502985" y="3690324"/>
            <a:ext cx="4410279" cy="2893038"/>
          </a:xfrm>
          <a:prstGeom prst="rect">
            <a:avLst/>
          </a:prstGeom>
        </p:spPr>
      </p:pic>
    </p:spTree>
    <p:extLst>
      <p:ext uri="{BB962C8B-B14F-4D97-AF65-F5344CB8AC3E}">
        <p14:creationId xmlns:p14="http://schemas.microsoft.com/office/powerpoint/2010/main" val="3361794454"/>
      </p:ext>
    </p:extLst>
  </p:cSld>
  <p:clrMapOvr>
    <a:masterClrMapping/>
  </p:clrMapOvr>
  <mc:AlternateContent xmlns:mc="http://schemas.openxmlformats.org/markup-compatibility/2006" xmlns:p14="http://schemas.microsoft.com/office/powerpoint/2010/main">
    <mc:Choice Requires="p14">
      <p:transition spd="slow" p14:dur="2000" advTm="4987"/>
    </mc:Choice>
    <mc:Fallback xmlns="">
      <p:transition spd="slow" advTm="4987"/>
    </mc:Fallback>
  </mc:AlternateContent>
  <p:extLst>
    <p:ext uri="{3A86A75C-4F4B-4683-9AE1-C65F6400EC91}">
      <p14:laserTraceLst xmlns:p14="http://schemas.microsoft.com/office/powerpoint/2010/main">
        <p14:tracePtLst>
          <p14:tracePt t="1929" x="350838" y="777875"/>
          <p14:tracePt t="1932" x="427038" y="668338"/>
          <p14:tracePt t="1938" x="569913" y="547688"/>
          <p14:tracePt t="1961" x="898525" y="274638"/>
          <p14:tracePt t="1964" x="963613" y="230188"/>
          <p14:tracePt t="1972" x="1050925" y="165100"/>
          <p14:tracePt t="1991" x="1247775" y="55563"/>
          <p14:tracePt t="4363" x="0" y="0"/>
        </p14:tracePtLst>
      </p14:laserTraceLst>
    </p:ext>
  </p:extLs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defRPr sz="2800">
                <a:solidFill>
                  <a:srgbClr val="006666"/>
                </a:solidFill>
              </a:defRPr>
            </a:pPr>
            <a:r>
              <a:rPr sz="3600" dirty="0">
                <a:solidFill>
                  <a:srgbClr val="0070C0"/>
                </a:solidFill>
              </a:rPr>
              <a:t>What we observed (high‑level EDA)</a:t>
            </a:r>
          </a:p>
        </p:txBody>
      </p:sp>
      <p:sp>
        <p:nvSpPr>
          <p:cNvPr id="3" name="Content Placeholder 2"/>
          <p:cNvSpPr>
            <a:spLocks noGrp="1"/>
          </p:cNvSpPr>
          <p:nvPr>
            <p:ph idx="1"/>
          </p:nvPr>
        </p:nvSpPr>
        <p:spPr/>
        <p:txBody>
          <a:bodyPr>
            <a:normAutofit/>
          </a:bodyPr>
          <a:lstStyle/>
          <a:p>
            <a:pPr>
              <a:defRPr sz="1800">
                <a:solidFill>
                  <a:srgbClr val="323232"/>
                </a:solidFill>
              </a:defRPr>
            </a:pPr>
            <a:r>
              <a:rPr sz="2000" dirty="0"/>
              <a:t>Loyalty points are right‑skewed; ≈13% high‑value outliers.</a:t>
            </a:r>
          </a:p>
          <a:p>
            <a:pPr>
              <a:defRPr sz="1800">
                <a:solidFill>
                  <a:srgbClr val="323232"/>
                </a:solidFill>
              </a:defRPr>
            </a:pPr>
            <a:r>
              <a:rPr sz="2000" dirty="0"/>
              <a:t>Spending score and income align with loyalty; age contributes modestly.</a:t>
            </a:r>
          </a:p>
        </p:txBody>
      </p:sp>
      <p:pic>
        <p:nvPicPr>
          <p:cNvPr id="9" name="Picture 8" descr="A graph with red and blue lines&#10;&#10;AI-generated content may be incorrect.">
            <a:extLst>
              <a:ext uri="{FF2B5EF4-FFF2-40B4-BE49-F238E27FC236}">
                <a16:creationId xmlns:a16="http://schemas.microsoft.com/office/drawing/2014/main" id="{21091AAB-95EE-9012-5CE1-6AE1B83B9F46}"/>
              </a:ext>
            </a:extLst>
          </p:cNvPr>
          <p:cNvPicPr>
            <a:picLocks noChangeAspect="1"/>
          </p:cNvPicPr>
          <p:nvPr/>
        </p:nvPicPr>
        <p:blipFill>
          <a:blip r:embed="rId3"/>
          <a:stretch>
            <a:fillRect/>
          </a:stretch>
        </p:blipFill>
        <p:spPr>
          <a:xfrm>
            <a:off x="457200" y="2691206"/>
            <a:ext cx="4041310" cy="3488613"/>
          </a:xfrm>
          <a:prstGeom prst="rect">
            <a:avLst/>
          </a:prstGeom>
        </p:spPr>
      </p:pic>
      <p:pic>
        <p:nvPicPr>
          <p:cNvPr id="11" name="Picture 10" descr="A screenshot of a graph&#10;&#10;AI-generated content may be incorrect.">
            <a:extLst>
              <a:ext uri="{FF2B5EF4-FFF2-40B4-BE49-F238E27FC236}">
                <a16:creationId xmlns:a16="http://schemas.microsoft.com/office/drawing/2014/main" id="{0507E598-661B-95D5-D726-EC5BE4E6D418}"/>
              </a:ext>
            </a:extLst>
          </p:cNvPr>
          <p:cNvPicPr>
            <a:picLocks noChangeAspect="1"/>
          </p:cNvPicPr>
          <p:nvPr/>
        </p:nvPicPr>
        <p:blipFill>
          <a:blip r:embed="rId4"/>
          <a:stretch>
            <a:fillRect/>
          </a:stretch>
        </p:blipFill>
        <p:spPr>
          <a:xfrm>
            <a:off x="4282440" y="2820112"/>
            <a:ext cx="4537671" cy="376325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7350B3-9634-6B2E-47B2-3D54B3D1D345}"/>
              </a:ext>
            </a:extLst>
          </p:cNvPr>
          <p:cNvSpPr>
            <a:spLocks noGrp="1"/>
          </p:cNvSpPr>
          <p:nvPr>
            <p:ph type="title"/>
          </p:nvPr>
        </p:nvSpPr>
        <p:spPr>
          <a:xfrm>
            <a:off x="457200" y="274638"/>
            <a:ext cx="8229600" cy="807402"/>
          </a:xfrm>
        </p:spPr>
        <p:txBody>
          <a:bodyPr>
            <a:normAutofit/>
          </a:bodyPr>
          <a:lstStyle/>
          <a:p>
            <a:pPr algn="l"/>
            <a:r>
              <a:rPr lang="en-GB" sz="3600" dirty="0">
                <a:solidFill>
                  <a:srgbClr val="0070C0"/>
                </a:solidFill>
              </a:rPr>
              <a:t>Linear Regression</a:t>
            </a:r>
          </a:p>
        </p:txBody>
      </p:sp>
      <p:pic>
        <p:nvPicPr>
          <p:cNvPr id="14" name="Picture 13" descr="A graph of different types of graphs&#10;&#10;AI-generated content may be incorrect.">
            <a:extLst>
              <a:ext uri="{FF2B5EF4-FFF2-40B4-BE49-F238E27FC236}">
                <a16:creationId xmlns:a16="http://schemas.microsoft.com/office/drawing/2014/main" id="{435E5BFF-1AB4-19E9-56AA-E54A38F74404}"/>
              </a:ext>
            </a:extLst>
          </p:cNvPr>
          <p:cNvPicPr>
            <a:picLocks noChangeAspect="1"/>
          </p:cNvPicPr>
          <p:nvPr/>
        </p:nvPicPr>
        <p:blipFill>
          <a:blip r:embed="rId3"/>
          <a:stretch>
            <a:fillRect/>
          </a:stretch>
        </p:blipFill>
        <p:spPr>
          <a:xfrm>
            <a:off x="190500" y="1213009"/>
            <a:ext cx="3855720" cy="2891790"/>
          </a:xfrm>
          <a:prstGeom prst="rect">
            <a:avLst/>
          </a:prstGeom>
        </p:spPr>
      </p:pic>
      <p:sp>
        <p:nvSpPr>
          <p:cNvPr id="24" name="TextBox 23">
            <a:extLst>
              <a:ext uri="{FF2B5EF4-FFF2-40B4-BE49-F238E27FC236}">
                <a16:creationId xmlns:a16="http://schemas.microsoft.com/office/drawing/2014/main" id="{09683464-89E2-2078-BEDE-87E378662289}"/>
              </a:ext>
            </a:extLst>
          </p:cNvPr>
          <p:cNvSpPr txBox="1"/>
          <p:nvPr/>
        </p:nvSpPr>
        <p:spPr>
          <a:xfrm>
            <a:off x="815340" y="4235768"/>
            <a:ext cx="8008620" cy="646331"/>
          </a:xfrm>
          <a:prstGeom prst="rect">
            <a:avLst/>
          </a:prstGeom>
          <a:noFill/>
        </p:spPr>
        <p:txBody>
          <a:bodyPr wrap="square" rtlCol="0">
            <a:spAutoFit/>
          </a:bodyPr>
          <a:lstStyle/>
          <a:p>
            <a:r>
              <a:rPr lang="en-GB" dirty="0"/>
              <a:t>To compute any statistical significance and relationship between these numerical variables on loyalty points, we used linear regression models to plot visualisations</a:t>
            </a:r>
          </a:p>
        </p:txBody>
      </p:sp>
      <p:pic>
        <p:nvPicPr>
          <p:cNvPr id="26" name="Picture 25" descr="A diagram of a graph&#10;&#10;AI-generated content may be incorrect.">
            <a:extLst>
              <a:ext uri="{FF2B5EF4-FFF2-40B4-BE49-F238E27FC236}">
                <a16:creationId xmlns:a16="http://schemas.microsoft.com/office/drawing/2014/main" id="{512B693C-79DE-BE67-1E98-3532BC15D09A}"/>
              </a:ext>
            </a:extLst>
          </p:cNvPr>
          <p:cNvPicPr>
            <a:picLocks noChangeAspect="1"/>
          </p:cNvPicPr>
          <p:nvPr/>
        </p:nvPicPr>
        <p:blipFill>
          <a:blip r:embed="rId4"/>
          <a:stretch>
            <a:fillRect/>
          </a:stretch>
        </p:blipFill>
        <p:spPr>
          <a:xfrm>
            <a:off x="4450080" y="1213009"/>
            <a:ext cx="4373880" cy="2930284"/>
          </a:xfrm>
          <a:prstGeom prst="rect">
            <a:avLst/>
          </a:prstGeom>
        </p:spPr>
      </p:pic>
      <p:pic>
        <p:nvPicPr>
          <p:cNvPr id="30" name="Picture 29" descr="A blue and white rectangular box with numbers&#10;&#10;AI-generated content may be incorrect.">
            <a:extLst>
              <a:ext uri="{FF2B5EF4-FFF2-40B4-BE49-F238E27FC236}">
                <a16:creationId xmlns:a16="http://schemas.microsoft.com/office/drawing/2014/main" id="{6220E98F-91DC-C052-2CF2-808B066BFC01}"/>
              </a:ext>
            </a:extLst>
          </p:cNvPr>
          <p:cNvPicPr>
            <a:picLocks noChangeAspect="1"/>
          </p:cNvPicPr>
          <p:nvPr/>
        </p:nvPicPr>
        <p:blipFill>
          <a:blip r:embed="rId5"/>
          <a:stretch>
            <a:fillRect/>
          </a:stretch>
        </p:blipFill>
        <p:spPr>
          <a:xfrm>
            <a:off x="605790" y="4952604"/>
            <a:ext cx="7932420" cy="1630758"/>
          </a:xfrm>
          <a:prstGeom prst="rect">
            <a:avLst/>
          </a:prstGeom>
        </p:spPr>
      </p:pic>
    </p:spTree>
    <p:extLst>
      <p:ext uri="{BB962C8B-B14F-4D97-AF65-F5344CB8AC3E}">
        <p14:creationId xmlns:p14="http://schemas.microsoft.com/office/powerpoint/2010/main" val="42309629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 name="Slide Background">
            <a:extLst>
              <a:ext uri="{FF2B5EF4-FFF2-40B4-BE49-F238E27FC236}">
                <a16:creationId xmlns:a16="http://schemas.microsoft.com/office/drawing/2014/main" id="{5F637E18-EF26-4327-9077-7FFC67B98B9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9143998" cy="685800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useBgFill="1">
        <p:nvSpPr>
          <p:cNvPr id="18" name="Rectangle 17">
            <a:extLst>
              <a:ext uri="{FF2B5EF4-FFF2-40B4-BE49-F238E27FC236}">
                <a16:creationId xmlns:a16="http://schemas.microsoft.com/office/drawing/2014/main" id="{3EED6667-6BE8-A2AB-422A-5A1D89727E3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9144000" cy="1696413"/>
          </a:xfrm>
          <a:prstGeom prst="rect">
            <a:avLst/>
          </a:prstGeom>
          <a:ln>
            <a:noFill/>
          </a:ln>
          <a:effectLst>
            <a:outerShdw blurRad="304800" dist="114300" dir="5460000" sx="92000" sy="92000" algn="t" rotWithShape="0">
              <a:srgbClr val="000000">
                <a:alpha val="14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050F13F-2D9B-F48B-4818-9C7ACDCE213D}"/>
              </a:ext>
            </a:extLst>
          </p:cNvPr>
          <p:cNvSpPr>
            <a:spLocks noGrp="1"/>
          </p:cNvSpPr>
          <p:nvPr>
            <p:ph type="title"/>
          </p:nvPr>
        </p:nvSpPr>
        <p:spPr>
          <a:xfrm>
            <a:off x="442168" y="244742"/>
            <a:ext cx="8421746" cy="1235225"/>
          </a:xfrm>
        </p:spPr>
        <p:txBody>
          <a:bodyPr vert="horz" lIns="91440" tIns="45720" rIns="91440" bIns="45720" rtlCol="0" anchor="ctr">
            <a:normAutofit/>
          </a:bodyPr>
          <a:lstStyle/>
          <a:p>
            <a:pPr algn="l" defTabSz="914400">
              <a:lnSpc>
                <a:spcPct val="90000"/>
              </a:lnSpc>
            </a:pPr>
            <a:r>
              <a:rPr lang="en-US" sz="3600" kern="1200" dirty="0">
                <a:solidFill>
                  <a:srgbClr val="0070C0"/>
                </a:solidFill>
                <a:latin typeface="+mj-lt"/>
                <a:ea typeface="+mj-ea"/>
                <a:cs typeface="+mj-cs"/>
              </a:rPr>
              <a:t>Key Insights on models to predict loyalty points</a:t>
            </a:r>
          </a:p>
        </p:txBody>
      </p:sp>
      <p:sp>
        <p:nvSpPr>
          <p:cNvPr id="10" name="TextBox 9">
            <a:extLst>
              <a:ext uri="{FF2B5EF4-FFF2-40B4-BE49-F238E27FC236}">
                <a16:creationId xmlns:a16="http://schemas.microsoft.com/office/drawing/2014/main" id="{15A760EA-1F8C-4300-1DE5-6E29824297F0}"/>
              </a:ext>
            </a:extLst>
          </p:cNvPr>
          <p:cNvSpPr txBox="1"/>
          <p:nvPr/>
        </p:nvSpPr>
        <p:spPr>
          <a:xfrm>
            <a:off x="457200" y="1857734"/>
            <a:ext cx="8406714" cy="369332"/>
          </a:xfrm>
          <a:prstGeom prst="rect">
            <a:avLst/>
          </a:prstGeom>
          <a:noFill/>
        </p:spPr>
        <p:txBody>
          <a:bodyPr wrap="square" rtlCol="0">
            <a:spAutoFit/>
          </a:bodyPr>
          <a:lstStyle/>
          <a:p>
            <a:pPr>
              <a:defRPr sz="1800">
                <a:solidFill>
                  <a:srgbClr val="404040"/>
                </a:solidFill>
              </a:defRPr>
            </a:pPr>
            <a:r>
              <a:rPr lang="en-GB" dirty="0"/>
              <a:t>Linear models vs. Decision Trees vs. Random Forest (Turtle Games)</a:t>
            </a:r>
          </a:p>
        </p:txBody>
      </p:sp>
      <p:sp>
        <p:nvSpPr>
          <p:cNvPr id="12" name="TextBox 11">
            <a:extLst>
              <a:ext uri="{FF2B5EF4-FFF2-40B4-BE49-F238E27FC236}">
                <a16:creationId xmlns:a16="http://schemas.microsoft.com/office/drawing/2014/main" id="{A6B17928-025D-565C-940B-952015A4A35C}"/>
              </a:ext>
            </a:extLst>
          </p:cNvPr>
          <p:cNvSpPr txBox="1"/>
          <p:nvPr/>
        </p:nvSpPr>
        <p:spPr>
          <a:xfrm>
            <a:off x="576648" y="5198076"/>
            <a:ext cx="7982465" cy="1169551"/>
          </a:xfrm>
          <a:prstGeom prst="rect">
            <a:avLst/>
          </a:prstGeom>
          <a:noFill/>
        </p:spPr>
        <p:txBody>
          <a:bodyPr wrap="square" rtlCol="0">
            <a:spAutoFit/>
          </a:bodyPr>
          <a:lstStyle/>
          <a:p>
            <a:pPr>
              <a:defRPr sz="1400"/>
            </a:pPr>
            <a:r>
              <a:rPr lang="en-GB" dirty="0"/>
              <a:t>Random Forest delivers the most accurate predictions on new data (lowest Test RMSE/MAE, highest Test R²).</a:t>
            </a:r>
          </a:p>
          <a:p>
            <a:pPr>
              <a:defRPr sz="1400"/>
            </a:pPr>
            <a:r>
              <a:rPr lang="en-GB" dirty="0"/>
              <a:t>Pruned Tree and Multiple Linear Regression are easier to explain to stakeholders; use them for policy and communication.</a:t>
            </a:r>
          </a:p>
          <a:p>
            <a:pPr>
              <a:defRPr sz="1400"/>
            </a:pPr>
            <a:r>
              <a:rPr lang="en-GB" dirty="0"/>
              <a:t>Spending score and income drive loyalty far more than age across all models.</a:t>
            </a:r>
          </a:p>
        </p:txBody>
      </p:sp>
      <p:pic>
        <p:nvPicPr>
          <p:cNvPr id="17" name="Content Placeholder 16" descr="A screenshot of a graph&#10;&#10;AI-generated content may be incorrect.">
            <a:extLst>
              <a:ext uri="{FF2B5EF4-FFF2-40B4-BE49-F238E27FC236}">
                <a16:creationId xmlns:a16="http://schemas.microsoft.com/office/drawing/2014/main" id="{E6D97913-20C5-6759-05E0-5CB273BAA451}"/>
              </a:ext>
            </a:extLst>
          </p:cNvPr>
          <p:cNvPicPr>
            <a:picLocks noGrp="1" noChangeAspect="1"/>
          </p:cNvPicPr>
          <p:nvPr>
            <p:ph idx="1"/>
          </p:nvPr>
        </p:nvPicPr>
        <p:blipFill>
          <a:blip r:embed="rId3"/>
          <a:stretch>
            <a:fillRect/>
          </a:stretch>
        </p:blipFill>
        <p:spPr>
          <a:xfrm>
            <a:off x="457200" y="2246782"/>
            <a:ext cx="8229600" cy="3232799"/>
          </a:xfrm>
        </p:spPr>
      </p:pic>
    </p:spTree>
    <p:extLst>
      <p:ext uri="{BB962C8B-B14F-4D97-AF65-F5344CB8AC3E}">
        <p14:creationId xmlns:p14="http://schemas.microsoft.com/office/powerpoint/2010/main" val="22790665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1143000"/>
          </a:xfrm>
        </p:spPr>
        <p:txBody>
          <a:bodyPr>
            <a:normAutofit/>
          </a:bodyPr>
          <a:lstStyle/>
          <a:p>
            <a:pPr algn="l">
              <a:defRPr sz="2800">
                <a:solidFill>
                  <a:srgbClr val="006666"/>
                </a:solidFill>
              </a:defRPr>
            </a:pPr>
            <a:r>
              <a:rPr sz="3600" dirty="0">
                <a:solidFill>
                  <a:srgbClr val="0070C0"/>
                </a:solidFill>
              </a:rPr>
              <a:t>Customer segments (k‑means</a:t>
            </a:r>
            <a:r>
              <a:rPr lang="en-GB" sz="3600" dirty="0">
                <a:solidFill>
                  <a:srgbClr val="0070C0"/>
                </a:solidFill>
              </a:rPr>
              <a:t> k=5)</a:t>
            </a:r>
            <a:endParaRPr sz="3600" dirty="0">
              <a:solidFill>
                <a:srgbClr val="0070C0"/>
              </a:solidFill>
            </a:endParaRPr>
          </a:p>
        </p:txBody>
      </p:sp>
      <p:sp>
        <p:nvSpPr>
          <p:cNvPr id="3" name="Content Placeholder 2"/>
          <p:cNvSpPr>
            <a:spLocks noGrp="1"/>
          </p:cNvSpPr>
          <p:nvPr>
            <p:ph idx="1"/>
          </p:nvPr>
        </p:nvSpPr>
        <p:spPr/>
        <p:txBody>
          <a:bodyPr/>
          <a:lstStyle/>
          <a:p>
            <a:pPr marL="0" indent="0">
              <a:buNone/>
              <a:defRPr sz="1600" b="1">
                <a:solidFill>
                  <a:srgbClr val="323232"/>
                </a:solidFill>
              </a:defRPr>
            </a:pPr>
            <a:r>
              <a:rPr lang="en-GB" dirty="0"/>
              <a:t>Can we segment customers into groups for </a:t>
            </a:r>
            <a:r>
              <a:rPr lang="en-GB" sz="1800" dirty="0"/>
              <a:t>target</a:t>
            </a:r>
            <a:r>
              <a:rPr lang="en-GB" dirty="0"/>
              <a:t> specific marketing?</a:t>
            </a:r>
            <a:endParaRPr dirty="0"/>
          </a:p>
        </p:txBody>
      </p:sp>
      <p:sp>
        <p:nvSpPr>
          <p:cNvPr id="5" name="Rectangle 4"/>
          <p:cNvSpPr/>
          <p:nvPr/>
        </p:nvSpPr>
        <p:spPr>
          <a:xfrm flipV="1">
            <a:off x="-1912620" y="5212080"/>
            <a:ext cx="289560" cy="45719"/>
          </a:xfrm>
          <a:prstGeom prst="rect">
            <a:avLst/>
          </a:prstGeom>
          <a:solidFill>
            <a:srgbClr val="EBEBEB"/>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400">
                <a:solidFill>
                  <a:srgbClr val="787878"/>
                </a:solidFill>
              </a:defRPr>
            </a:pPr>
            <a:r>
              <a:rPr dirty="0"/>
              <a:t>Placeholder: Insert cluster scatter/centroids </a:t>
            </a:r>
            <a:r>
              <a:rPr dirty="0" err="1"/>
              <a:t>visua</a:t>
            </a:r>
            <a:r>
              <a:rPr dirty="0"/>
              <a:t> here</a:t>
            </a:r>
          </a:p>
        </p:txBody>
      </p:sp>
      <p:pic>
        <p:nvPicPr>
          <p:cNvPr id="9" name="Picture 8" descr="A diagram of multiple colored dots&#10;&#10;AI-generated content may be incorrect.">
            <a:extLst>
              <a:ext uri="{FF2B5EF4-FFF2-40B4-BE49-F238E27FC236}">
                <a16:creationId xmlns:a16="http://schemas.microsoft.com/office/drawing/2014/main" id="{108D3736-016E-76D9-AF4E-B9E115E0FAB4}"/>
              </a:ext>
            </a:extLst>
          </p:cNvPr>
          <p:cNvPicPr>
            <a:picLocks noChangeAspect="1"/>
          </p:cNvPicPr>
          <p:nvPr/>
        </p:nvPicPr>
        <p:blipFill>
          <a:blip r:embed="rId3"/>
          <a:stretch>
            <a:fillRect/>
          </a:stretch>
        </p:blipFill>
        <p:spPr>
          <a:xfrm>
            <a:off x="60960" y="2118360"/>
            <a:ext cx="3439886" cy="2618483"/>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E0873641-A6CB-B3FE-5C84-875BD4867D00}"/>
              </a:ext>
            </a:extLst>
          </p:cNvPr>
          <p:cNvPicPr>
            <a:picLocks noChangeAspect="1"/>
          </p:cNvPicPr>
          <p:nvPr/>
        </p:nvPicPr>
        <p:blipFill>
          <a:blip r:embed="rId4"/>
          <a:stretch>
            <a:fillRect/>
          </a:stretch>
        </p:blipFill>
        <p:spPr>
          <a:xfrm>
            <a:off x="187234" y="4668999"/>
            <a:ext cx="8769532" cy="1800928"/>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E994CB-7E84-E8D7-3DB4-B870676BCE25}"/>
              </a:ext>
            </a:extLst>
          </p:cNvPr>
          <p:cNvSpPr>
            <a:spLocks noGrp="1"/>
          </p:cNvSpPr>
          <p:nvPr>
            <p:ph type="title"/>
          </p:nvPr>
        </p:nvSpPr>
        <p:spPr>
          <a:xfrm>
            <a:off x="457200" y="274638"/>
            <a:ext cx="8229600" cy="1489994"/>
          </a:xfrm>
        </p:spPr>
        <p:txBody>
          <a:bodyPr>
            <a:normAutofit/>
          </a:bodyPr>
          <a:lstStyle/>
          <a:p>
            <a:pPr algn="l"/>
            <a:r>
              <a:rPr lang="en-GB" sz="3600" dirty="0">
                <a:solidFill>
                  <a:srgbClr val="0070C0"/>
                </a:solidFill>
              </a:rPr>
              <a:t>Customer segments: (K-Means k=6)</a:t>
            </a:r>
          </a:p>
        </p:txBody>
      </p:sp>
      <p:pic>
        <p:nvPicPr>
          <p:cNvPr id="5" name="Content Placeholder 4" descr="A diagram of a customer segmentation&#10;&#10;AI-generated content may be incorrect.">
            <a:extLst>
              <a:ext uri="{FF2B5EF4-FFF2-40B4-BE49-F238E27FC236}">
                <a16:creationId xmlns:a16="http://schemas.microsoft.com/office/drawing/2014/main" id="{51E1B5E4-3977-12C7-B2F1-CAD18F631AD5}"/>
              </a:ext>
            </a:extLst>
          </p:cNvPr>
          <p:cNvPicPr>
            <a:picLocks noGrp="1" noChangeAspect="1"/>
          </p:cNvPicPr>
          <p:nvPr>
            <p:ph idx="1"/>
          </p:nvPr>
        </p:nvPicPr>
        <p:blipFill>
          <a:blip r:embed="rId3"/>
          <a:stretch>
            <a:fillRect/>
          </a:stretch>
        </p:blipFill>
        <p:spPr>
          <a:xfrm>
            <a:off x="674074" y="1541417"/>
            <a:ext cx="3253492" cy="2920646"/>
          </a:xfrm>
        </p:spPr>
      </p:pic>
      <p:pic>
        <p:nvPicPr>
          <p:cNvPr id="7" name="Picture 6" descr="A table with numbers and a number of clusters&#10;&#10;AI-generated content may be incorrect.">
            <a:extLst>
              <a:ext uri="{FF2B5EF4-FFF2-40B4-BE49-F238E27FC236}">
                <a16:creationId xmlns:a16="http://schemas.microsoft.com/office/drawing/2014/main" id="{6EAF5DA7-659A-E651-2A27-DFBE58B58041}"/>
              </a:ext>
            </a:extLst>
          </p:cNvPr>
          <p:cNvPicPr>
            <a:picLocks noChangeAspect="1"/>
          </p:cNvPicPr>
          <p:nvPr/>
        </p:nvPicPr>
        <p:blipFill>
          <a:blip r:embed="rId4"/>
          <a:stretch>
            <a:fillRect/>
          </a:stretch>
        </p:blipFill>
        <p:spPr>
          <a:xfrm>
            <a:off x="4990011" y="2104267"/>
            <a:ext cx="2908663" cy="1577850"/>
          </a:xfrm>
          <a:prstGeom prst="rect">
            <a:avLst/>
          </a:prstGeom>
        </p:spPr>
      </p:pic>
      <p:pic>
        <p:nvPicPr>
          <p:cNvPr id="11" name="Picture 10" descr="A screenshot of a computer&#10;&#10;AI-generated content may be incorrect.">
            <a:extLst>
              <a:ext uri="{FF2B5EF4-FFF2-40B4-BE49-F238E27FC236}">
                <a16:creationId xmlns:a16="http://schemas.microsoft.com/office/drawing/2014/main" id="{9CCDBD30-CBAD-B84A-D14A-5F575205EBCD}"/>
              </a:ext>
            </a:extLst>
          </p:cNvPr>
          <p:cNvPicPr>
            <a:picLocks noChangeAspect="1"/>
          </p:cNvPicPr>
          <p:nvPr/>
        </p:nvPicPr>
        <p:blipFill>
          <a:blip r:embed="rId5"/>
          <a:stretch>
            <a:fillRect/>
          </a:stretch>
        </p:blipFill>
        <p:spPr>
          <a:xfrm>
            <a:off x="674074" y="4625007"/>
            <a:ext cx="8012726" cy="2040157"/>
          </a:xfrm>
          <a:prstGeom prst="rect">
            <a:avLst/>
          </a:prstGeom>
        </p:spPr>
      </p:pic>
    </p:spTree>
    <p:extLst>
      <p:ext uri="{BB962C8B-B14F-4D97-AF65-F5344CB8AC3E}">
        <p14:creationId xmlns:p14="http://schemas.microsoft.com/office/powerpoint/2010/main" val="33407375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defRPr sz="2800">
                <a:solidFill>
                  <a:srgbClr val="006666"/>
                </a:solidFill>
              </a:defRPr>
            </a:pPr>
            <a:r>
              <a:rPr sz="3600" dirty="0">
                <a:solidFill>
                  <a:srgbClr val="0070C0"/>
                </a:solidFill>
              </a:rPr>
              <a:t>Customer voice (reviews &amp; sentiment)</a:t>
            </a:r>
          </a:p>
        </p:txBody>
      </p:sp>
      <p:sp>
        <p:nvSpPr>
          <p:cNvPr id="3" name="Content Placeholder 2"/>
          <p:cNvSpPr>
            <a:spLocks noGrp="1"/>
          </p:cNvSpPr>
          <p:nvPr>
            <p:ph idx="1"/>
          </p:nvPr>
        </p:nvSpPr>
        <p:spPr/>
        <p:txBody>
          <a:bodyPr>
            <a:normAutofit/>
          </a:bodyPr>
          <a:lstStyle/>
          <a:p>
            <a:pPr>
              <a:defRPr sz="1800">
                <a:solidFill>
                  <a:srgbClr val="323232"/>
                </a:solidFill>
              </a:defRPr>
            </a:pPr>
            <a:r>
              <a:rPr sz="2000" dirty="0"/>
              <a:t>Most common positive themes: “game”, “fun”, “quality”, “kids”, “easy”, “pieces”.</a:t>
            </a:r>
          </a:p>
          <a:p>
            <a:pPr>
              <a:defRPr sz="1800">
                <a:solidFill>
                  <a:srgbClr val="323232"/>
                </a:solidFill>
              </a:defRPr>
            </a:pPr>
            <a:r>
              <a:rPr sz="2000" dirty="0"/>
              <a:t>Top positives: quality, replay value, educational benefits.</a:t>
            </a:r>
          </a:p>
          <a:p>
            <a:pPr>
              <a:defRPr sz="1800">
                <a:solidFill>
                  <a:srgbClr val="323232"/>
                </a:solidFill>
              </a:defRPr>
            </a:pPr>
            <a:r>
              <a:rPr sz="2000" dirty="0"/>
              <a:t>Top negatives: missing pieces, packaging, shipping delays.</a:t>
            </a:r>
          </a:p>
          <a:p>
            <a:pPr>
              <a:defRPr sz="1800">
                <a:solidFill>
                  <a:srgbClr val="323232"/>
                </a:solidFill>
              </a:defRPr>
            </a:pPr>
            <a:r>
              <a:rPr sz="2000" dirty="0"/>
              <a:t>Action: keep leaning into family‑fun quality; fix fulfilment friction points.</a:t>
            </a:r>
          </a:p>
        </p:txBody>
      </p:sp>
      <p:pic>
        <p:nvPicPr>
          <p:cNvPr id="6" name="Picture 5" descr="A close up of words&#10;&#10;AI-generated content may be incorrect.">
            <a:extLst>
              <a:ext uri="{FF2B5EF4-FFF2-40B4-BE49-F238E27FC236}">
                <a16:creationId xmlns:a16="http://schemas.microsoft.com/office/drawing/2014/main" id="{10B05ABE-7163-F954-8AB8-84D585F20ADC}"/>
              </a:ext>
            </a:extLst>
          </p:cNvPr>
          <p:cNvPicPr>
            <a:picLocks noChangeAspect="1"/>
          </p:cNvPicPr>
          <p:nvPr/>
        </p:nvPicPr>
        <p:blipFill>
          <a:blip r:embed="rId3"/>
          <a:stretch>
            <a:fillRect/>
          </a:stretch>
        </p:blipFill>
        <p:spPr>
          <a:xfrm>
            <a:off x="182881" y="3614981"/>
            <a:ext cx="4531952" cy="2450718"/>
          </a:xfrm>
          <a:prstGeom prst="rect">
            <a:avLst/>
          </a:prstGeom>
        </p:spPr>
      </p:pic>
      <p:pic>
        <p:nvPicPr>
          <p:cNvPr id="8" name="Picture 7" descr="A close up of words&#10;&#10;AI-generated content may be incorrect.">
            <a:extLst>
              <a:ext uri="{FF2B5EF4-FFF2-40B4-BE49-F238E27FC236}">
                <a16:creationId xmlns:a16="http://schemas.microsoft.com/office/drawing/2014/main" id="{B8933612-F08F-8F47-412F-9526318C6275}"/>
              </a:ext>
            </a:extLst>
          </p:cNvPr>
          <p:cNvPicPr>
            <a:picLocks noChangeAspect="1"/>
          </p:cNvPicPr>
          <p:nvPr/>
        </p:nvPicPr>
        <p:blipFill>
          <a:blip r:embed="rId4"/>
          <a:stretch>
            <a:fillRect/>
          </a:stretch>
        </p:blipFill>
        <p:spPr>
          <a:xfrm>
            <a:off x="4833256" y="3568841"/>
            <a:ext cx="4127863" cy="2496858"/>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B46A91-019A-480D-783A-516C9B1F8A05}"/>
              </a:ext>
            </a:extLst>
          </p:cNvPr>
          <p:cNvSpPr>
            <a:spLocks noGrp="1"/>
          </p:cNvSpPr>
          <p:nvPr>
            <p:ph type="title"/>
          </p:nvPr>
        </p:nvSpPr>
        <p:spPr/>
        <p:txBody>
          <a:bodyPr>
            <a:normAutofit/>
          </a:bodyPr>
          <a:lstStyle/>
          <a:p>
            <a:pPr algn="l"/>
            <a:r>
              <a:rPr lang="en-GB" sz="3600" dirty="0">
                <a:solidFill>
                  <a:srgbClr val="0070C0"/>
                </a:solidFill>
              </a:rPr>
              <a:t>Top Positive &amp; Negative Words</a:t>
            </a:r>
          </a:p>
        </p:txBody>
      </p:sp>
      <p:graphicFrame>
        <p:nvGraphicFramePr>
          <p:cNvPr id="4" name="Content Placeholder 3">
            <a:extLst>
              <a:ext uri="{FF2B5EF4-FFF2-40B4-BE49-F238E27FC236}">
                <a16:creationId xmlns:a16="http://schemas.microsoft.com/office/drawing/2014/main" id="{E9F57620-142A-79BF-0944-88694E6D5C5A}"/>
              </a:ext>
            </a:extLst>
          </p:cNvPr>
          <p:cNvGraphicFramePr>
            <a:graphicFrameLocks noGrp="1"/>
          </p:cNvGraphicFramePr>
          <p:nvPr>
            <p:ph idx="1"/>
            <p:extLst>
              <p:ext uri="{D42A27DB-BD31-4B8C-83A1-F6EECF244321}">
                <p14:modId xmlns:p14="http://schemas.microsoft.com/office/powerpoint/2010/main" val="1304777337"/>
              </p:ext>
            </p:extLst>
          </p:nvPr>
        </p:nvGraphicFramePr>
        <p:xfrm>
          <a:off x="457200" y="1828800"/>
          <a:ext cx="8229600" cy="1950720"/>
        </p:xfrm>
        <a:graphic>
          <a:graphicData uri="http://schemas.openxmlformats.org/drawingml/2006/table">
            <a:tbl>
              <a:tblPr firstRow="1" firstCol="1" bandRow="1">
                <a:tableStyleId>{5C22544A-7EE6-4342-B048-85BDC9FD1C3A}</a:tableStyleId>
              </a:tblPr>
              <a:tblGrid>
                <a:gridCol w="4114800">
                  <a:extLst>
                    <a:ext uri="{9D8B030D-6E8A-4147-A177-3AD203B41FA5}">
                      <a16:colId xmlns:a16="http://schemas.microsoft.com/office/drawing/2014/main" val="1447286889"/>
                    </a:ext>
                  </a:extLst>
                </a:gridCol>
                <a:gridCol w="4114800">
                  <a:extLst>
                    <a:ext uri="{9D8B030D-6E8A-4147-A177-3AD203B41FA5}">
                      <a16:colId xmlns:a16="http://schemas.microsoft.com/office/drawing/2014/main" val="1703932100"/>
                    </a:ext>
                  </a:extLst>
                </a:gridCol>
              </a:tblGrid>
              <a:tr h="325120">
                <a:tc>
                  <a:txBody>
                    <a:bodyPr/>
                    <a:lstStyle/>
                    <a:p>
                      <a:pPr marL="457200">
                        <a:lnSpc>
                          <a:spcPct val="115000"/>
                        </a:lnSpc>
                        <a:spcAft>
                          <a:spcPts val="800"/>
                        </a:spcAft>
                        <a:buNone/>
                      </a:pPr>
                      <a:r>
                        <a:rPr lang="en-GB" sz="1200" kern="100">
                          <a:effectLst/>
                        </a:rPr>
                        <a:t>Positive Keywords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a:effectLst/>
                        </a:rPr>
                        <a:t>Insight</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829478276"/>
                  </a:ext>
                </a:extLst>
              </a:tr>
              <a:tr h="325120">
                <a:tc>
                  <a:txBody>
                    <a:bodyPr/>
                    <a:lstStyle/>
                    <a:p>
                      <a:pPr marL="457200">
                        <a:lnSpc>
                          <a:spcPct val="115000"/>
                        </a:lnSpc>
                        <a:spcAft>
                          <a:spcPts val="800"/>
                        </a:spcAft>
                        <a:buNone/>
                      </a:pPr>
                      <a:r>
                        <a:rPr lang="en-GB" sz="1200" kern="100">
                          <a:effectLst/>
                        </a:rPr>
                        <a:t>game</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dirty="0">
                          <a:effectLst/>
                        </a:rPr>
                        <a:t>Central to product identity; highlights enjoyment.</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65447613"/>
                  </a:ext>
                </a:extLst>
              </a:tr>
              <a:tr h="325120">
                <a:tc>
                  <a:txBody>
                    <a:bodyPr/>
                    <a:lstStyle/>
                    <a:p>
                      <a:pPr marL="457200">
                        <a:lnSpc>
                          <a:spcPct val="115000"/>
                        </a:lnSpc>
                        <a:spcAft>
                          <a:spcPts val="800"/>
                        </a:spcAft>
                        <a:buNone/>
                      </a:pPr>
                      <a:r>
                        <a:rPr lang="en-GB" sz="1200" kern="100">
                          <a:effectLst/>
                        </a:rPr>
                        <a:t>fun</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dirty="0">
                          <a:effectLst/>
                        </a:rPr>
                        <a:t>Strong association with customer satisfaction.</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420166447"/>
                  </a:ext>
                </a:extLst>
              </a:tr>
              <a:tr h="325120">
                <a:tc>
                  <a:txBody>
                    <a:bodyPr/>
                    <a:lstStyle/>
                    <a:p>
                      <a:pPr marL="457200">
                        <a:lnSpc>
                          <a:spcPct val="115000"/>
                        </a:lnSpc>
                        <a:spcAft>
                          <a:spcPts val="800"/>
                        </a:spcAft>
                        <a:buNone/>
                      </a:pPr>
                      <a:r>
                        <a:rPr lang="en-GB" sz="1200" kern="100" dirty="0">
                          <a:effectLst/>
                        </a:rPr>
                        <a:t>quality</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dirty="0">
                          <a:effectLst/>
                        </a:rPr>
                        <a:t>Customers value durability and design.</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261915533"/>
                  </a:ext>
                </a:extLst>
              </a:tr>
              <a:tr h="325120">
                <a:tc>
                  <a:txBody>
                    <a:bodyPr/>
                    <a:lstStyle/>
                    <a:p>
                      <a:pPr marL="457200">
                        <a:lnSpc>
                          <a:spcPct val="115000"/>
                        </a:lnSpc>
                        <a:spcAft>
                          <a:spcPts val="800"/>
                        </a:spcAft>
                        <a:buNone/>
                      </a:pPr>
                      <a:r>
                        <a:rPr lang="en-GB" sz="1200" kern="100">
                          <a:effectLst/>
                        </a:rPr>
                        <a:t>kids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dirty="0">
                          <a:effectLst/>
                        </a:rPr>
                        <a:t>Products resonate well with families.</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91838174"/>
                  </a:ext>
                </a:extLst>
              </a:tr>
              <a:tr h="325120">
                <a:tc>
                  <a:txBody>
                    <a:bodyPr/>
                    <a:lstStyle/>
                    <a:p>
                      <a:pPr marL="457200">
                        <a:lnSpc>
                          <a:spcPct val="115000"/>
                        </a:lnSpc>
                        <a:spcAft>
                          <a:spcPts val="800"/>
                        </a:spcAft>
                        <a:buNone/>
                      </a:pPr>
                      <a:r>
                        <a:rPr lang="en-GB" sz="1200" kern="100" dirty="0">
                          <a:effectLst/>
                        </a:rPr>
                        <a:t>easy</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dirty="0">
                          <a:effectLst/>
                        </a:rPr>
                        <a:t>Ease of use/setup is appreciated.</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906219374"/>
                  </a:ext>
                </a:extLst>
              </a:tr>
            </a:tbl>
          </a:graphicData>
        </a:graphic>
      </p:graphicFrame>
      <p:graphicFrame>
        <p:nvGraphicFramePr>
          <p:cNvPr id="5" name="Table 4">
            <a:extLst>
              <a:ext uri="{FF2B5EF4-FFF2-40B4-BE49-F238E27FC236}">
                <a16:creationId xmlns:a16="http://schemas.microsoft.com/office/drawing/2014/main" id="{3B4AC8B4-D2F9-8A97-2417-E457A753336E}"/>
              </a:ext>
            </a:extLst>
          </p:cNvPr>
          <p:cNvGraphicFramePr>
            <a:graphicFrameLocks noGrp="1"/>
          </p:cNvGraphicFramePr>
          <p:nvPr>
            <p:extLst>
              <p:ext uri="{D42A27DB-BD31-4B8C-83A1-F6EECF244321}">
                <p14:modId xmlns:p14="http://schemas.microsoft.com/office/powerpoint/2010/main" val="3631853619"/>
              </p:ext>
            </p:extLst>
          </p:nvPr>
        </p:nvGraphicFramePr>
        <p:xfrm>
          <a:off x="457198" y="4415246"/>
          <a:ext cx="8229600" cy="2086806"/>
        </p:xfrm>
        <a:graphic>
          <a:graphicData uri="http://schemas.openxmlformats.org/drawingml/2006/table">
            <a:tbl>
              <a:tblPr firstRow="1" firstCol="1" bandRow="1">
                <a:tableStyleId>{5C22544A-7EE6-4342-B048-85BDC9FD1C3A}</a:tableStyleId>
              </a:tblPr>
              <a:tblGrid>
                <a:gridCol w="4019008">
                  <a:extLst>
                    <a:ext uri="{9D8B030D-6E8A-4147-A177-3AD203B41FA5}">
                      <a16:colId xmlns:a16="http://schemas.microsoft.com/office/drawing/2014/main" val="1299034952"/>
                    </a:ext>
                  </a:extLst>
                </a:gridCol>
                <a:gridCol w="4210592">
                  <a:extLst>
                    <a:ext uri="{9D8B030D-6E8A-4147-A177-3AD203B41FA5}">
                      <a16:colId xmlns:a16="http://schemas.microsoft.com/office/drawing/2014/main" val="1207837157"/>
                    </a:ext>
                  </a:extLst>
                </a:gridCol>
              </a:tblGrid>
              <a:tr h="230023">
                <a:tc>
                  <a:txBody>
                    <a:bodyPr/>
                    <a:lstStyle/>
                    <a:p>
                      <a:pPr marL="457200">
                        <a:lnSpc>
                          <a:spcPct val="115000"/>
                        </a:lnSpc>
                        <a:spcAft>
                          <a:spcPts val="800"/>
                        </a:spcAft>
                        <a:buNone/>
                      </a:pPr>
                      <a:r>
                        <a:rPr lang="en-GB" sz="1200" kern="100" dirty="0">
                          <a:effectLst/>
                        </a:rPr>
                        <a:t>Negative Keywords</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a:effectLst/>
                        </a:rPr>
                        <a:t>Insight</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4050060354"/>
                  </a:ext>
                </a:extLst>
              </a:tr>
              <a:tr h="406690">
                <a:tc>
                  <a:txBody>
                    <a:bodyPr/>
                    <a:lstStyle/>
                    <a:p>
                      <a:pPr marL="457200">
                        <a:lnSpc>
                          <a:spcPct val="115000"/>
                        </a:lnSpc>
                        <a:spcAft>
                          <a:spcPts val="800"/>
                        </a:spcAft>
                        <a:buNone/>
                      </a:pPr>
                      <a:r>
                        <a:rPr lang="en-GB" sz="1200" kern="100">
                          <a:effectLst/>
                        </a:rPr>
                        <a:t>pieces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dirty="0">
                          <a:effectLst/>
                        </a:rPr>
                        <a:t>Complaints about missing/broken parts.</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960811100"/>
                  </a:ext>
                </a:extLst>
              </a:tr>
              <a:tr h="406690">
                <a:tc>
                  <a:txBody>
                    <a:bodyPr/>
                    <a:lstStyle/>
                    <a:p>
                      <a:pPr marL="457200">
                        <a:lnSpc>
                          <a:spcPct val="115000"/>
                        </a:lnSpc>
                        <a:spcAft>
                          <a:spcPts val="800"/>
                        </a:spcAft>
                        <a:buNone/>
                      </a:pPr>
                      <a:r>
                        <a:rPr lang="en-GB" sz="1200" kern="100">
                          <a:effectLst/>
                        </a:rPr>
                        <a:t>shipping</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a:effectLst/>
                        </a:rPr>
                        <a:t>Delays or damaged packages mentioned.</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2226007026"/>
                  </a:ext>
                </a:extLst>
              </a:tr>
              <a:tr h="230023">
                <a:tc>
                  <a:txBody>
                    <a:bodyPr/>
                    <a:lstStyle/>
                    <a:p>
                      <a:pPr marL="457200">
                        <a:lnSpc>
                          <a:spcPct val="115000"/>
                        </a:lnSpc>
                        <a:spcAft>
                          <a:spcPts val="800"/>
                        </a:spcAft>
                        <a:buNone/>
                      </a:pPr>
                      <a:r>
                        <a:rPr lang="en-GB" sz="1200" kern="100">
                          <a:effectLst/>
                        </a:rPr>
                        <a:t>broken</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a:effectLst/>
                        </a:rPr>
                        <a:t>Quality control/packaging issues.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161636784"/>
                  </a:ext>
                </a:extLst>
              </a:tr>
              <a:tr h="406690">
                <a:tc>
                  <a:txBody>
                    <a:bodyPr/>
                    <a:lstStyle/>
                    <a:p>
                      <a:pPr marL="457200">
                        <a:lnSpc>
                          <a:spcPct val="115000"/>
                        </a:lnSpc>
                        <a:spcAft>
                          <a:spcPts val="800"/>
                        </a:spcAft>
                        <a:buNone/>
                      </a:pPr>
                      <a:r>
                        <a:rPr lang="en-GB" sz="1200" kern="100">
                          <a:effectLst/>
                        </a:rPr>
                        <a:t>instructions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a:effectLst/>
                        </a:rPr>
                        <a:t>Poor or unclear manuals frustrate customers.</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1687739923"/>
                  </a:ext>
                </a:extLst>
              </a:tr>
              <a:tr h="406690">
                <a:tc>
                  <a:txBody>
                    <a:bodyPr/>
                    <a:lstStyle/>
                    <a:p>
                      <a:pPr marL="457200">
                        <a:lnSpc>
                          <a:spcPct val="115000"/>
                        </a:lnSpc>
                        <a:spcAft>
                          <a:spcPts val="800"/>
                        </a:spcAft>
                        <a:buNone/>
                      </a:pPr>
                      <a:r>
                        <a:rPr lang="en-GB" sz="1200" kern="100">
                          <a:effectLst/>
                        </a:rPr>
                        <a:t>expensive</a:t>
                      </a:r>
                      <a:endParaRPr lang="en-GB" sz="1200" kern="10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tc>
                  <a:txBody>
                    <a:bodyPr/>
                    <a:lstStyle/>
                    <a:p>
                      <a:pPr marL="457200">
                        <a:lnSpc>
                          <a:spcPct val="115000"/>
                        </a:lnSpc>
                        <a:spcAft>
                          <a:spcPts val="800"/>
                        </a:spcAft>
                        <a:buNone/>
                      </a:pPr>
                      <a:r>
                        <a:rPr lang="en-GB" sz="1200" kern="100" dirty="0">
                          <a:effectLst/>
                        </a:rPr>
                        <a:t>Some perceive pricing as high for value.</a:t>
                      </a:r>
                      <a:endParaRPr lang="en-GB" sz="1200" kern="100" dirty="0">
                        <a:effectLst/>
                        <a:latin typeface="Aptos" panose="020B0004020202020204" pitchFamily="34" charset="0"/>
                        <a:ea typeface="Aptos" panose="020B0004020202020204" pitchFamily="34" charset="0"/>
                        <a:cs typeface="Times New Roman" panose="02020603050405020304" pitchFamily="18" charset="0"/>
                      </a:endParaRPr>
                    </a:p>
                  </a:txBody>
                  <a:tcPr marL="9525" marR="9525" marT="9525" marB="9525" anchor="ctr"/>
                </a:tc>
                <a:extLst>
                  <a:ext uri="{0D108BD9-81ED-4DB2-BD59-A6C34878D82A}">
                    <a16:rowId xmlns:a16="http://schemas.microsoft.com/office/drawing/2014/main" val="3187251034"/>
                  </a:ext>
                </a:extLst>
              </a:tr>
            </a:tbl>
          </a:graphicData>
        </a:graphic>
      </p:graphicFrame>
      <p:sp>
        <p:nvSpPr>
          <p:cNvPr id="6" name="Rectangle 1">
            <a:extLst>
              <a:ext uri="{FF2B5EF4-FFF2-40B4-BE49-F238E27FC236}">
                <a16:creationId xmlns:a16="http://schemas.microsoft.com/office/drawing/2014/main" id="{EC90FDFF-5B17-6677-9E70-404BFAC15B08}"/>
              </a:ext>
            </a:extLst>
          </p:cNvPr>
          <p:cNvSpPr>
            <a:spLocks noChangeArrowheads="1"/>
          </p:cNvSpPr>
          <p:nvPr/>
        </p:nvSpPr>
        <p:spPr bwMode="auto">
          <a:xfrm>
            <a:off x="0" y="0"/>
            <a:ext cx="9144000" cy="457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GB"/>
          </a:p>
        </p:txBody>
      </p:sp>
      <p:sp>
        <p:nvSpPr>
          <p:cNvPr id="8" name="Rectangle 2">
            <a:extLst>
              <a:ext uri="{FF2B5EF4-FFF2-40B4-BE49-F238E27FC236}">
                <a16:creationId xmlns:a16="http://schemas.microsoft.com/office/drawing/2014/main" id="{D5E7E746-32DE-ACBD-88B9-1094F9DDF464}"/>
              </a:ext>
            </a:extLst>
          </p:cNvPr>
          <p:cNvSpPr>
            <a:spLocks noChangeArrowheads="1"/>
          </p:cNvSpPr>
          <p:nvPr/>
        </p:nvSpPr>
        <p:spPr bwMode="auto">
          <a:xfrm flipH="1" flipV="1">
            <a:off x="-2412275" y="2962810"/>
            <a:ext cx="1027611" cy="46619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GB" altLang="en-US" sz="1800" b="0" i="0" u="none" strike="noStrike" cap="none" normalizeH="0" baseline="0" dirty="0">
              <a:ln>
                <a:noFill/>
              </a:ln>
              <a:solidFill>
                <a:schemeClr val="tx1"/>
              </a:solidFill>
              <a:effectLst/>
              <a:latin typeface="Arial" panose="020B0604020202020204" pitchFamily="34" charset="0"/>
            </a:endParaRPr>
          </a:p>
        </p:txBody>
      </p:sp>
      <p:sp>
        <p:nvSpPr>
          <p:cNvPr id="9" name="TextBox 8">
            <a:extLst>
              <a:ext uri="{FF2B5EF4-FFF2-40B4-BE49-F238E27FC236}">
                <a16:creationId xmlns:a16="http://schemas.microsoft.com/office/drawing/2014/main" id="{36E7CBB9-79FC-DE74-5716-85944AC30B9D}"/>
              </a:ext>
            </a:extLst>
          </p:cNvPr>
          <p:cNvSpPr txBox="1"/>
          <p:nvPr/>
        </p:nvSpPr>
        <p:spPr>
          <a:xfrm>
            <a:off x="583474" y="1410006"/>
            <a:ext cx="8103324" cy="461665"/>
          </a:xfrm>
          <a:prstGeom prst="rect">
            <a:avLst/>
          </a:prstGeom>
          <a:noFill/>
        </p:spPr>
        <p:txBody>
          <a:bodyPr wrap="square" rtlCol="0">
            <a:spAutoFit/>
          </a:bodyPr>
          <a:lstStyle/>
          <a:p>
            <a:r>
              <a:rPr lang="en-GB" sz="2400" dirty="0"/>
              <a:t>Top positive words</a:t>
            </a:r>
          </a:p>
        </p:txBody>
      </p:sp>
      <p:sp>
        <p:nvSpPr>
          <p:cNvPr id="10" name="TextBox 9">
            <a:extLst>
              <a:ext uri="{FF2B5EF4-FFF2-40B4-BE49-F238E27FC236}">
                <a16:creationId xmlns:a16="http://schemas.microsoft.com/office/drawing/2014/main" id="{E3E911C4-0E25-B032-B5D8-A41FD1346040}"/>
              </a:ext>
            </a:extLst>
          </p:cNvPr>
          <p:cNvSpPr txBox="1"/>
          <p:nvPr/>
        </p:nvSpPr>
        <p:spPr>
          <a:xfrm rot="10800000" flipV="1">
            <a:off x="583474" y="3882710"/>
            <a:ext cx="8103323" cy="461665"/>
          </a:xfrm>
          <a:prstGeom prst="rect">
            <a:avLst/>
          </a:prstGeom>
          <a:noFill/>
        </p:spPr>
        <p:txBody>
          <a:bodyPr wrap="square" rtlCol="0">
            <a:spAutoFit/>
          </a:bodyPr>
          <a:lstStyle/>
          <a:p>
            <a:r>
              <a:rPr lang="en-GB" sz="2400" dirty="0"/>
              <a:t>Top negative words</a:t>
            </a:r>
          </a:p>
        </p:txBody>
      </p:sp>
    </p:spTree>
    <p:extLst>
      <p:ext uri="{BB962C8B-B14F-4D97-AF65-F5344CB8AC3E}">
        <p14:creationId xmlns:p14="http://schemas.microsoft.com/office/powerpoint/2010/main" val="2811244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4737613-8775-E484-D8DB-15A545B9607F}"/>
              </a:ext>
            </a:extLst>
          </p:cNvPr>
          <p:cNvSpPr>
            <a:spLocks noGrp="1"/>
          </p:cNvSpPr>
          <p:nvPr>
            <p:ph type="title"/>
          </p:nvPr>
        </p:nvSpPr>
        <p:spPr/>
        <p:txBody>
          <a:bodyPr>
            <a:normAutofit/>
          </a:bodyPr>
          <a:lstStyle/>
          <a:p>
            <a:pPr algn="l"/>
            <a:r>
              <a:rPr lang="en-GB" sz="3600" dirty="0">
                <a:solidFill>
                  <a:srgbClr val="0070C0"/>
                </a:solidFill>
              </a:rPr>
              <a:t>Review sentiment polarity</a:t>
            </a:r>
          </a:p>
        </p:txBody>
      </p:sp>
      <p:pic>
        <p:nvPicPr>
          <p:cNvPr id="5" name="Content Placeholder 4" descr="A graph of a positive and negative&#10;&#10;AI-generated content may be incorrect.">
            <a:extLst>
              <a:ext uri="{FF2B5EF4-FFF2-40B4-BE49-F238E27FC236}">
                <a16:creationId xmlns:a16="http://schemas.microsoft.com/office/drawing/2014/main" id="{7BE38AA3-A636-EFAD-4736-6A34686E7BAB}"/>
              </a:ext>
            </a:extLst>
          </p:cNvPr>
          <p:cNvPicPr>
            <a:picLocks noGrp="1" noChangeAspect="1"/>
          </p:cNvPicPr>
          <p:nvPr>
            <p:ph idx="1"/>
          </p:nvPr>
        </p:nvPicPr>
        <p:blipFill>
          <a:blip r:embed="rId3"/>
          <a:stretch>
            <a:fillRect/>
          </a:stretch>
        </p:blipFill>
        <p:spPr>
          <a:xfrm>
            <a:off x="397068" y="1837509"/>
            <a:ext cx="4174932" cy="2911928"/>
          </a:xfrm>
        </p:spPr>
      </p:pic>
      <p:pic>
        <p:nvPicPr>
          <p:cNvPr id="7" name="Picture 6" descr="A bar graph with different colored squares&#10;&#10;AI-generated content may be incorrect.">
            <a:extLst>
              <a:ext uri="{FF2B5EF4-FFF2-40B4-BE49-F238E27FC236}">
                <a16:creationId xmlns:a16="http://schemas.microsoft.com/office/drawing/2014/main" id="{B136D088-6BFC-6A4A-5B66-2126C5541476}"/>
              </a:ext>
            </a:extLst>
          </p:cNvPr>
          <p:cNvPicPr>
            <a:picLocks noChangeAspect="1"/>
          </p:cNvPicPr>
          <p:nvPr/>
        </p:nvPicPr>
        <p:blipFill>
          <a:blip r:embed="rId4"/>
          <a:stretch>
            <a:fillRect/>
          </a:stretch>
        </p:blipFill>
        <p:spPr>
          <a:xfrm>
            <a:off x="4354286" y="1898470"/>
            <a:ext cx="4064071" cy="2911928"/>
          </a:xfrm>
          <a:prstGeom prst="rect">
            <a:avLst/>
          </a:prstGeom>
        </p:spPr>
      </p:pic>
    </p:spTree>
    <p:extLst>
      <p:ext uri="{BB962C8B-B14F-4D97-AF65-F5344CB8AC3E}">
        <p14:creationId xmlns:p14="http://schemas.microsoft.com/office/powerpoint/2010/main" val="41607249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defRPr sz="2800">
                <a:solidFill>
                  <a:srgbClr val="006666"/>
                </a:solidFill>
              </a:defRPr>
            </a:pPr>
            <a:r>
              <a:rPr sz="3600" dirty="0">
                <a:solidFill>
                  <a:srgbClr val="0070C0"/>
                </a:solidFill>
              </a:rPr>
              <a:t>Key</a:t>
            </a:r>
            <a:r>
              <a:rPr lang="en-GB" sz="3600" dirty="0">
                <a:solidFill>
                  <a:srgbClr val="0070C0"/>
                </a:solidFill>
              </a:rPr>
              <a:t> Insights</a:t>
            </a:r>
            <a:endParaRPr sz="3600" dirty="0">
              <a:solidFill>
                <a:srgbClr val="0070C0"/>
              </a:solidFill>
            </a:endParaRPr>
          </a:p>
        </p:txBody>
      </p:sp>
      <p:sp>
        <p:nvSpPr>
          <p:cNvPr id="3" name="Content Placeholder 2"/>
          <p:cNvSpPr>
            <a:spLocks noGrp="1"/>
          </p:cNvSpPr>
          <p:nvPr>
            <p:ph idx="1"/>
          </p:nvPr>
        </p:nvSpPr>
        <p:spPr/>
        <p:txBody>
          <a:bodyPr>
            <a:normAutofit/>
          </a:bodyPr>
          <a:lstStyle/>
          <a:p>
            <a:pPr>
              <a:defRPr sz="1800">
                <a:solidFill>
                  <a:srgbClr val="323232"/>
                </a:solidFill>
              </a:defRPr>
            </a:pPr>
            <a:r>
              <a:rPr sz="2400" dirty="0"/>
              <a:t>Simple drivers (spending score, income)</a:t>
            </a:r>
            <a:r>
              <a:rPr lang="en-GB" sz="2400" dirty="0"/>
              <a:t> 84% of</a:t>
            </a:r>
            <a:r>
              <a:rPr sz="2400" dirty="0"/>
              <a:t> loyalty variation.</a:t>
            </a:r>
          </a:p>
          <a:p>
            <a:pPr>
              <a:defRPr sz="1800">
                <a:solidFill>
                  <a:srgbClr val="323232"/>
                </a:solidFill>
              </a:defRPr>
            </a:pPr>
            <a:r>
              <a:rPr sz="2400" dirty="0"/>
              <a:t>There is a small but important VIP tail (≥3,200 points).</a:t>
            </a:r>
          </a:p>
          <a:p>
            <a:pPr>
              <a:defRPr sz="1800">
                <a:solidFill>
                  <a:srgbClr val="323232"/>
                </a:solidFill>
              </a:defRPr>
            </a:pPr>
            <a:r>
              <a:rPr sz="2400" dirty="0"/>
              <a:t>Segments are distinct enough to target with different tactics.</a:t>
            </a:r>
          </a:p>
          <a:p>
            <a:pPr>
              <a:defRPr sz="1800">
                <a:solidFill>
                  <a:srgbClr val="323232"/>
                </a:solidFill>
              </a:defRPr>
            </a:pPr>
            <a:r>
              <a:rPr sz="2400" dirty="0"/>
              <a:t>Operational issues—not product—cause most negative reviews.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defRPr sz="2800">
                <a:solidFill>
                  <a:srgbClr val="006666"/>
                </a:solidFill>
              </a:defRPr>
            </a:pPr>
            <a:r>
              <a:rPr sz="3600" dirty="0">
                <a:solidFill>
                  <a:srgbClr val="0070C0"/>
                </a:solidFill>
              </a:rPr>
              <a:t>Recommendations </a:t>
            </a:r>
          </a:p>
        </p:txBody>
      </p:sp>
      <p:sp>
        <p:nvSpPr>
          <p:cNvPr id="3" name="Content Placeholder 2"/>
          <p:cNvSpPr>
            <a:spLocks noGrp="1"/>
          </p:cNvSpPr>
          <p:nvPr>
            <p:ph idx="1"/>
          </p:nvPr>
        </p:nvSpPr>
        <p:spPr/>
        <p:txBody>
          <a:bodyPr>
            <a:normAutofit fontScale="25000" lnSpcReduction="20000"/>
          </a:bodyPr>
          <a:lstStyle/>
          <a:p>
            <a:pPr>
              <a:defRPr sz="1800">
                <a:solidFill>
                  <a:srgbClr val="323232"/>
                </a:solidFill>
              </a:defRPr>
            </a:pPr>
            <a:endParaRPr lang="en-GB" sz="2000" dirty="0"/>
          </a:p>
          <a:p>
            <a:pPr lvl="0"/>
            <a:r>
              <a:rPr lang="en-GB" sz="8000" b="1" dirty="0"/>
              <a:t>Marketing strategy:</a:t>
            </a:r>
            <a:endParaRPr lang="en-GB" sz="8000" dirty="0"/>
          </a:p>
          <a:p>
            <a:pPr lvl="1"/>
            <a:r>
              <a:rPr lang="en-GB" sz="8000" dirty="0"/>
              <a:t>Emphasise </a:t>
            </a:r>
            <a:r>
              <a:rPr lang="en-GB" sz="8000" i="1" dirty="0"/>
              <a:t>fun, quality, family enjoyment</a:t>
            </a:r>
            <a:r>
              <a:rPr lang="en-GB" sz="8000" dirty="0"/>
              <a:t> in messaging.</a:t>
            </a:r>
          </a:p>
          <a:p>
            <a:pPr lvl="1"/>
            <a:r>
              <a:rPr lang="en-GB" sz="8000" dirty="0"/>
              <a:t>Tailor campaigns by cluster: premium offers for high-spend customers; loyalty rewards for mid-income segments.</a:t>
            </a:r>
          </a:p>
          <a:p>
            <a:pPr lvl="0"/>
            <a:r>
              <a:rPr lang="en-GB" sz="8000" b="1" dirty="0"/>
              <a:t>Operational improvements:</a:t>
            </a:r>
            <a:endParaRPr lang="en-GB" sz="8000" dirty="0"/>
          </a:p>
          <a:p>
            <a:pPr lvl="1"/>
            <a:r>
              <a:rPr lang="en-GB" sz="8000" dirty="0"/>
              <a:t>Address recurring complaints (e.g., missing pieces, shipping issues).</a:t>
            </a:r>
          </a:p>
          <a:p>
            <a:pPr lvl="1"/>
            <a:r>
              <a:rPr lang="en-GB" sz="8000" dirty="0"/>
              <a:t>Enhance product durability and packaging.</a:t>
            </a:r>
          </a:p>
          <a:p>
            <a:pPr lvl="0"/>
            <a:r>
              <a:rPr lang="en-GB" sz="8000" b="1" dirty="0"/>
              <a:t>Analytics roadmap:</a:t>
            </a:r>
            <a:endParaRPr lang="en-GB" sz="8000" dirty="0"/>
          </a:p>
          <a:p>
            <a:pPr lvl="1"/>
            <a:r>
              <a:rPr lang="en-GB" sz="8000" dirty="0"/>
              <a:t>Deploy predictive models (e.g. random forests) to score customers for loyalty campaigns.</a:t>
            </a:r>
          </a:p>
          <a:p>
            <a:pPr lvl="1"/>
            <a:r>
              <a:rPr lang="en-GB" sz="8000" dirty="0"/>
              <a:t>Use clustering outputs to refine customer segmentation in CRM systems.</a:t>
            </a:r>
          </a:p>
          <a:p>
            <a:pPr lvl="1"/>
            <a:r>
              <a:rPr lang="en-GB" sz="8000" dirty="0"/>
              <a:t>Continue monitoring online reviews with automated sentiment analysis dashboards.</a:t>
            </a:r>
          </a:p>
          <a:p>
            <a:pPr marL="0" indent="0">
              <a:buNone/>
              <a:defRPr sz="1800">
                <a:solidFill>
                  <a:srgbClr val="323232"/>
                </a:solidFill>
              </a:defRPr>
            </a:pPr>
            <a:endParaRPr lang="en-GB" sz="7200" dirty="0"/>
          </a:p>
          <a:p>
            <a:pPr>
              <a:defRPr sz="1800">
                <a:solidFill>
                  <a:srgbClr val="323232"/>
                </a:solidFill>
              </a:defRPr>
            </a:pPr>
            <a:endParaRPr lang="en-GB" sz="7200" dirty="0"/>
          </a:p>
          <a:p>
            <a:pPr>
              <a:defRPr sz="1800">
                <a:solidFill>
                  <a:srgbClr val="323232"/>
                </a:solidFill>
              </a:defRPr>
            </a:pPr>
            <a:endParaRPr lang="en-GB" sz="7200" dirty="0"/>
          </a:p>
          <a:p>
            <a:pPr>
              <a:defRPr sz="1800">
                <a:solidFill>
                  <a:srgbClr val="323232"/>
                </a:solidFill>
              </a:defRPr>
            </a:pPr>
            <a:endParaRPr lang="en-GB" sz="7200" dirty="0"/>
          </a:p>
          <a:p>
            <a:pPr>
              <a:defRPr sz="1800">
                <a:solidFill>
                  <a:srgbClr val="323232"/>
                </a:solidFill>
              </a:defRPr>
            </a:pPr>
            <a:endParaRPr lang="en-GB" sz="7200" dirty="0"/>
          </a:p>
          <a:p>
            <a:pPr>
              <a:defRPr sz="1800">
                <a:solidFill>
                  <a:srgbClr val="323232"/>
                </a:solidFill>
              </a:defRPr>
            </a:pPr>
            <a:endParaRPr lang="en-GB" sz="2000" dirty="0"/>
          </a:p>
          <a:p>
            <a:pPr>
              <a:defRPr sz="1800">
                <a:solidFill>
                  <a:srgbClr val="323232"/>
                </a:solidFill>
              </a:defRPr>
            </a:pPr>
            <a:endParaRPr lang="en-GB" sz="2000" dirty="0"/>
          </a:p>
          <a:p>
            <a:pPr>
              <a:defRPr sz="1800">
                <a:solidFill>
                  <a:srgbClr val="323232"/>
                </a:solidFill>
              </a:defRPr>
            </a:pPr>
            <a:endParaRPr lang="en-GB" sz="2000" dirty="0"/>
          </a:p>
          <a:p>
            <a:pPr>
              <a:defRPr sz="1800">
                <a:solidFill>
                  <a:srgbClr val="323232"/>
                </a:solidFill>
              </a:defRPr>
            </a:pPr>
            <a:endParaRPr lang="en-GB" sz="2000" dirty="0"/>
          </a:p>
          <a:p>
            <a:pPr>
              <a:defRPr sz="1800">
                <a:solidFill>
                  <a:srgbClr val="323232"/>
                </a:solidFill>
              </a:defRPr>
            </a:pPr>
            <a:endParaRPr lang="en-GB" sz="2000" dirty="0"/>
          </a:p>
          <a:p>
            <a:pPr>
              <a:defRPr sz="1800">
                <a:solidFill>
                  <a:srgbClr val="323232"/>
                </a:solidFill>
              </a:defRPr>
            </a:pPr>
            <a:endParaRPr lang="en-GB" sz="2000" dirty="0"/>
          </a:p>
          <a:p>
            <a:pPr>
              <a:defRPr sz="1800">
                <a:solidFill>
                  <a:srgbClr val="323232"/>
                </a:solidFill>
              </a:defRPr>
            </a:pPr>
            <a:endParaRPr lang="en-GB" sz="2000" dirty="0"/>
          </a:p>
          <a:p>
            <a:pPr>
              <a:defRPr sz="1800">
                <a:solidFill>
                  <a:srgbClr val="323232"/>
                </a:solidFill>
              </a:defRPr>
            </a:pPr>
            <a:endParaRPr lang="en-GB" sz="2000" dirty="0"/>
          </a:p>
          <a:p>
            <a:pPr>
              <a:defRPr sz="1800">
                <a:solidFill>
                  <a:srgbClr val="323232"/>
                </a:solidFill>
              </a:defRPr>
            </a:pPr>
            <a:endParaRPr lang="en-GB" sz="2000" dirty="0"/>
          </a:p>
          <a:p>
            <a:pPr>
              <a:defRPr sz="1800">
                <a:solidFill>
                  <a:srgbClr val="323232"/>
                </a:solidFill>
              </a:defRPr>
            </a:pPr>
            <a:endParaRPr lang="en-GB" sz="2000" dirty="0"/>
          </a:p>
          <a:p>
            <a:pPr marL="0" indent="0">
              <a:buNone/>
              <a:defRPr sz="1800">
                <a:solidFill>
                  <a:srgbClr val="323232"/>
                </a:solidFill>
              </a:defRPr>
            </a:pPr>
            <a:r>
              <a:rPr sz="2000" dirty="0"/>
              <a:t>Activate high‑income, low‑spend profiles with tailored awareness offers.</a:t>
            </a:r>
          </a:p>
          <a:p>
            <a:pPr>
              <a:defRPr sz="1800">
                <a:solidFill>
                  <a:srgbClr val="323232"/>
                </a:solidFill>
              </a:defRPr>
            </a:pPr>
            <a:r>
              <a:rPr sz="2000" dirty="0"/>
              <a:t>Deepen value with mid‑to‑high spenders using bundles, milestones, and cross‑sell.</a:t>
            </a:r>
          </a:p>
          <a:p>
            <a:pPr>
              <a:defRPr sz="1800">
                <a:solidFill>
                  <a:srgbClr val="323232"/>
                </a:solidFill>
              </a:defRPr>
            </a:pPr>
            <a:r>
              <a:rPr sz="2000" dirty="0"/>
              <a:t>Create a VIP track for ≥3,200‑point customers (early access, exclusive perks).</a:t>
            </a:r>
          </a:p>
          <a:p>
            <a:pPr>
              <a:defRPr sz="1800">
                <a:solidFill>
                  <a:srgbClr val="323232"/>
                </a:solidFill>
              </a:defRPr>
            </a:pPr>
            <a:r>
              <a:rPr sz="2000" dirty="0"/>
              <a:t>Fix fulfilment pain points to cut negative sentiment and returns.</a:t>
            </a:r>
          </a:p>
          <a:p>
            <a:pPr>
              <a:defRPr sz="1800">
                <a:solidFill>
                  <a:srgbClr val="323232"/>
                </a:solidFill>
              </a:defRPr>
            </a:pPr>
            <a:r>
              <a:rPr sz="2000" dirty="0"/>
              <a:t>Use Linear model operationally; monitor RMSE/MAE monthly and revisit Splines if gains emerge.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defRPr sz="2800">
                <a:solidFill>
                  <a:srgbClr val="006666"/>
                </a:solidFill>
              </a:defRPr>
            </a:pPr>
            <a:r>
              <a:rPr sz="3600" dirty="0">
                <a:solidFill>
                  <a:srgbClr val="0070C0"/>
                </a:solidFill>
              </a:rPr>
              <a:t>Risks &amp; limitations</a:t>
            </a:r>
          </a:p>
        </p:txBody>
      </p:sp>
      <p:sp>
        <p:nvSpPr>
          <p:cNvPr id="3" name="Content Placeholder 2"/>
          <p:cNvSpPr>
            <a:spLocks noGrp="1"/>
          </p:cNvSpPr>
          <p:nvPr>
            <p:ph idx="1"/>
          </p:nvPr>
        </p:nvSpPr>
        <p:spPr/>
        <p:txBody>
          <a:bodyPr>
            <a:normAutofit/>
          </a:bodyPr>
          <a:lstStyle/>
          <a:p>
            <a:pPr>
              <a:defRPr sz="1800">
                <a:solidFill>
                  <a:srgbClr val="323232"/>
                </a:solidFill>
              </a:defRPr>
            </a:pPr>
            <a:r>
              <a:rPr sz="2400" dirty="0"/>
              <a:t>Data scope: 2,000 records, ~782 unique customers—good start, but limited.</a:t>
            </a:r>
          </a:p>
          <a:p>
            <a:pPr>
              <a:defRPr sz="1800">
                <a:solidFill>
                  <a:srgbClr val="323232"/>
                </a:solidFill>
              </a:defRPr>
            </a:pPr>
            <a:r>
              <a:rPr sz="2400" dirty="0"/>
              <a:t>Spending score construction is unknown; review this for governance.</a:t>
            </a:r>
          </a:p>
          <a:p>
            <a:pPr>
              <a:defRPr sz="1800">
                <a:solidFill>
                  <a:srgbClr val="323232"/>
                </a:solidFill>
              </a:defRPr>
            </a:pPr>
            <a:r>
              <a:rPr sz="2400" dirty="0"/>
              <a:t>Unobserved factors (seasonality, promotions, tenure) may matter.</a:t>
            </a:r>
          </a:p>
          <a:p>
            <a:pPr>
              <a:defRPr sz="1800">
                <a:solidFill>
                  <a:srgbClr val="323232"/>
                </a:solidFill>
              </a:defRPr>
            </a:pPr>
            <a:r>
              <a:rPr sz="2400" dirty="0"/>
              <a:t>Mitigation: enhance data capture; re‑train quarterly; add experimentation.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l">
              <a:defRPr sz="2800">
                <a:solidFill>
                  <a:srgbClr val="006666"/>
                </a:solidFill>
              </a:defRPr>
            </a:pPr>
            <a:r>
              <a:rPr sz="3600" dirty="0">
                <a:solidFill>
                  <a:srgbClr val="0070C0"/>
                </a:solidFill>
              </a:rPr>
              <a:t>90‑day roadmap</a:t>
            </a:r>
          </a:p>
        </p:txBody>
      </p:sp>
      <p:sp>
        <p:nvSpPr>
          <p:cNvPr id="3" name="Content Placeholder 2"/>
          <p:cNvSpPr>
            <a:spLocks noGrp="1"/>
          </p:cNvSpPr>
          <p:nvPr>
            <p:ph idx="1"/>
          </p:nvPr>
        </p:nvSpPr>
        <p:spPr/>
        <p:txBody>
          <a:bodyPr>
            <a:normAutofit/>
          </a:bodyPr>
          <a:lstStyle/>
          <a:p>
            <a:pPr>
              <a:defRPr sz="1800">
                <a:solidFill>
                  <a:srgbClr val="323232"/>
                </a:solidFill>
              </a:defRPr>
            </a:pPr>
            <a:r>
              <a:rPr sz="2400" dirty="0"/>
              <a:t>Weeks 1–4: </a:t>
            </a:r>
            <a:r>
              <a:rPr lang="en-GB" sz="2400" dirty="0"/>
              <a:t>Role out</a:t>
            </a:r>
            <a:r>
              <a:rPr sz="2400" dirty="0"/>
              <a:t> Linear model; define VIP and activation lists.</a:t>
            </a:r>
          </a:p>
          <a:p>
            <a:pPr>
              <a:defRPr sz="1800">
                <a:solidFill>
                  <a:srgbClr val="323232"/>
                </a:solidFill>
              </a:defRPr>
            </a:pPr>
            <a:r>
              <a:rPr sz="2400" dirty="0"/>
              <a:t>Weeks 5–8: launch 2–3 targeted offers; instrument tracking and sentiment monitors.</a:t>
            </a:r>
          </a:p>
          <a:p>
            <a:pPr>
              <a:defRPr sz="1800">
                <a:solidFill>
                  <a:srgbClr val="323232"/>
                </a:solidFill>
              </a:defRPr>
            </a:pPr>
            <a:r>
              <a:rPr sz="2400" dirty="0"/>
              <a:t>Weeks 9–12: evaluate lift; refine segments; revisit Splines and features if warranted.</a:t>
            </a:r>
          </a:p>
        </p:txBody>
      </p:sp>
      <p:sp>
        <p:nvSpPr>
          <p:cNvPr id="4" name="TextBox 3"/>
          <p:cNvSpPr txBox="1"/>
          <p:nvPr/>
        </p:nvSpPr>
        <p:spPr>
          <a:xfrm flipV="1">
            <a:off x="-3525624" y="5854044"/>
            <a:ext cx="1941921" cy="363875"/>
          </a:xfrm>
          <a:prstGeom prst="rect">
            <a:avLst/>
          </a:prstGeom>
          <a:noFill/>
        </p:spPr>
        <p:txBody>
          <a:bodyPr wrap="square">
            <a:spAutoFit/>
          </a:bodyPr>
          <a:lstStyle/>
          <a:p>
            <a:pPr>
              <a:defRPr sz="1000">
                <a:solidFill>
                  <a:srgbClr val="787878"/>
                </a:solidFill>
              </a:defRPr>
            </a:pPr>
            <a:endParaRPr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11BD32B-A7A1-487E-E7B9-3A4584FDF0FC}"/>
              </a:ext>
            </a:extLst>
          </p:cNvPr>
          <p:cNvSpPr>
            <a:spLocks noGrp="1"/>
          </p:cNvSpPr>
          <p:nvPr>
            <p:ph type="title"/>
          </p:nvPr>
        </p:nvSpPr>
        <p:spPr/>
        <p:txBody>
          <a:bodyPr/>
          <a:lstStyle/>
          <a:p>
            <a:endParaRPr lang="en-GB"/>
          </a:p>
        </p:txBody>
      </p:sp>
      <p:pic>
        <p:nvPicPr>
          <p:cNvPr id="4" name="Content Placeholder 3" descr="A turtle playing a board game&#10;&#10;AI-generated content may be incorrect.">
            <a:extLst>
              <a:ext uri="{FF2B5EF4-FFF2-40B4-BE49-F238E27FC236}">
                <a16:creationId xmlns:a16="http://schemas.microsoft.com/office/drawing/2014/main" id="{0575CD2E-18E4-65DB-C205-CF13B1C5AC2A}"/>
              </a:ext>
            </a:extLst>
          </p:cNvPr>
          <p:cNvPicPr>
            <a:picLocks noGrp="1" noChangeAspect="1"/>
          </p:cNvPicPr>
          <p:nvPr>
            <p:ph idx="1"/>
          </p:nvPr>
        </p:nvPicPr>
        <p:blipFill>
          <a:blip r:embed="rId2"/>
          <a:stretch>
            <a:fillRect/>
          </a:stretch>
        </p:blipFill>
        <p:spPr>
          <a:xfrm>
            <a:off x="2309018" y="1600200"/>
            <a:ext cx="4525963" cy="4525963"/>
          </a:xfrm>
          <a:prstGeom prst="rect">
            <a:avLst/>
          </a:prstGeom>
        </p:spPr>
      </p:pic>
    </p:spTree>
    <p:extLst>
      <p:ext uri="{BB962C8B-B14F-4D97-AF65-F5344CB8AC3E}">
        <p14:creationId xmlns:p14="http://schemas.microsoft.com/office/powerpoint/2010/main" val="313614305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971</TotalTime>
  <Words>1919</Words>
  <Application>Microsoft Office PowerPoint</Application>
  <PresentationFormat>On-screen Show (4:3)</PresentationFormat>
  <Paragraphs>146</Paragraphs>
  <Slides>17</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Aptos</vt:lpstr>
      <vt:lpstr>Arial</vt:lpstr>
      <vt:lpstr>Calibri</vt:lpstr>
      <vt:lpstr>Office Theme</vt:lpstr>
      <vt:lpstr> Turtle Games — Customer Loyalty Analytics</vt:lpstr>
      <vt:lpstr>Agenda</vt:lpstr>
      <vt:lpstr>What we set out to achieve</vt:lpstr>
      <vt:lpstr>Getting to know the customers</vt:lpstr>
      <vt:lpstr>What we observed (high‑level EDA)</vt:lpstr>
      <vt:lpstr>Linear Regression</vt:lpstr>
      <vt:lpstr>Key Insights on models to predict loyalty points</vt:lpstr>
      <vt:lpstr>Customer segments (k‑means k=5)</vt:lpstr>
      <vt:lpstr>Customer segments: (K-Means k=6)</vt:lpstr>
      <vt:lpstr>Customer voice (reviews &amp; sentiment)</vt:lpstr>
      <vt:lpstr>Top Positive &amp; Negative Words</vt:lpstr>
      <vt:lpstr>Review sentiment polarity</vt:lpstr>
      <vt:lpstr>Key Insights</vt:lpstr>
      <vt:lpstr>Recommendations </vt:lpstr>
      <vt:lpstr>Risks &amp; limitations</vt:lpstr>
      <vt:lpstr>90‑day roadmap</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ANDREW WILLACY</dc:creator>
  <cp:keywords/>
  <dc:description>generated using python-pptx</dc:description>
  <cp:lastModifiedBy>ANDREW WILLACY</cp:lastModifiedBy>
  <cp:revision>5</cp:revision>
  <dcterms:created xsi:type="dcterms:W3CDTF">2013-01-27T09:14:16Z</dcterms:created>
  <dcterms:modified xsi:type="dcterms:W3CDTF">2026-07-25T11:30:42Z</dcterms:modified>
  <cp:category/>
</cp:coreProperties>
</file>